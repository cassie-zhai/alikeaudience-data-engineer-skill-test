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</p:sldIdLst>
  <p:sldSz cy="5143500" cx="9144000"/>
  <p:notesSz cx="6858000" cy="9144000"/>
  <p:embeddedFontLst>
    <p:embeddedFont>
      <p:font typeface="Raleway"/>
      <p:regular r:id="rId38"/>
      <p:bold r:id="rId39"/>
      <p:italic r:id="rId40"/>
      <p:boldItalic r:id="rId41"/>
    </p:embeddedFont>
    <p:embeddedFont>
      <p:font typeface="VT323"/>
      <p:regular r:id="rId42"/>
    </p:embeddedFont>
    <p:embeddedFont>
      <p:font typeface="Red Hat Mono"/>
      <p:regular r:id="rId43"/>
      <p:bold r:id="rId44"/>
      <p:italic r:id="rId45"/>
      <p:boldItalic r:id="rId46"/>
    </p:embeddedFont>
    <p:embeddedFont>
      <p:font typeface="Archivo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aleway-italic.fntdata"/><Relationship Id="rId42" Type="http://schemas.openxmlformats.org/officeDocument/2006/relationships/font" Target="fonts/VT323-regular.fntdata"/><Relationship Id="rId41" Type="http://schemas.openxmlformats.org/officeDocument/2006/relationships/font" Target="fonts/Raleway-boldItalic.fntdata"/><Relationship Id="rId44" Type="http://schemas.openxmlformats.org/officeDocument/2006/relationships/font" Target="fonts/RedHatMono-bold.fntdata"/><Relationship Id="rId43" Type="http://schemas.openxmlformats.org/officeDocument/2006/relationships/font" Target="fonts/RedHatMono-regular.fntdata"/><Relationship Id="rId46" Type="http://schemas.openxmlformats.org/officeDocument/2006/relationships/font" Target="fonts/RedHatMono-boldItalic.fntdata"/><Relationship Id="rId45" Type="http://schemas.openxmlformats.org/officeDocument/2006/relationships/font" Target="fonts/RedHatMono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Archivo-bold.fntdata"/><Relationship Id="rId47" Type="http://schemas.openxmlformats.org/officeDocument/2006/relationships/font" Target="fonts/Archivo-regular.fntdata"/><Relationship Id="rId49" Type="http://schemas.openxmlformats.org/officeDocument/2006/relationships/font" Target="fonts/Archivo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font" Target="fonts/Raleway-bold.fntdata"/><Relationship Id="rId38" Type="http://schemas.openxmlformats.org/officeDocument/2006/relationships/font" Target="fonts/Raleway-regular.fntdata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0" Type="http://schemas.openxmlformats.org/officeDocument/2006/relationships/font" Target="fonts/Archivo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f8ba4015d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af8ba4015d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409d70362cf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409d70362cf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SLIDES_API1440137629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SLIDES_API144013762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e1d838b627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e1d838b62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409d70362cf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409d70362cf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e1d838b627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e1d838b627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e1d838b627_4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e1d838b627_4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e1d838b627_4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e1d838b627_4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3fb61485ab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3fb61485ab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e1d838b627_4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e1d838b627_4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e1d838b627_4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e1d838b627_4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aa_chart_geo_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aa_chart_geo_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aa_chart_geo_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aa_chart_geo_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aa_chart_time_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aa_chart_time_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aa_chart_geo_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aa_chart_geo_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aa_chart_time_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aa_chart_time_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aa_chart_time_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aa_chart_time_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aa_chart_time_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aa_chart_time_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aa_chart_time_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aa_chart_time_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aa_chart_ip_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aa_chart_ip_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aa_chart_ip_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aa_chart_ip_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aa_chart_ip_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aa_chart_ip_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aa_chart_ua_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aa_chart_ua_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aa_chart_ua_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aa_chart_ua_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aa_chart_geo_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aa_chart_geo_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aa_chart_ua_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aa_chart_ua_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aa_chart_ua_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aa_chart_ua_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aa_chart_ua_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aa_chart_ua_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aa_explain_geo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aa_explain_geo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aa_explain_ua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aa_explain_ua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aa_explain_time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aa_explain_time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aa_explain_i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3" name="Google Shape;653;aa_explain_i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e1d838b627_4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9" name="Google Shape;669;ge1d838b627_4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tBDfr" TargetMode="External"/><Relationship Id="rId4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 title="tech.png"/>
          <p:cNvPicPr preferRelativeResize="0"/>
          <p:nvPr/>
        </p:nvPicPr>
        <p:blipFill rotWithShape="1">
          <a:blip r:embed="rId2">
            <a:alphaModFix amt="66000"/>
          </a:blip>
          <a:srcRect b="0" l="16171" r="18704" t="0"/>
          <a:stretch/>
        </p:blipFill>
        <p:spPr>
          <a:xfrm>
            <a:off x="1457611" y="-3227699"/>
            <a:ext cx="9692323" cy="837119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/>
          <p:nvPr>
            <p:ph type="ctrTitle"/>
          </p:nvPr>
        </p:nvSpPr>
        <p:spPr>
          <a:xfrm>
            <a:off x="1653000" y="1899963"/>
            <a:ext cx="3174000" cy="68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b="0" i="0" sz="3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666200" y="2389438"/>
            <a:ext cx="1696800" cy="854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" name="Google Shape;12;p2"/>
          <p:cNvSpPr txBox="1"/>
          <p:nvPr>
            <p:ph idx="2" type="ctrTitle"/>
          </p:nvPr>
        </p:nvSpPr>
        <p:spPr>
          <a:xfrm>
            <a:off x="5182500" y="449702"/>
            <a:ext cx="2308500" cy="424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b="0" i="0" sz="19100">
                <a:latin typeface="VT323"/>
                <a:ea typeface="VT323"/>
                <a:cs typeface="VT323"/>
                <a:sym typeface="VT323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 title="tech.png"/>
          <p:cNvPicPr preferRelativeResize="0"/>
          <p:nvPr/>
        </p:nvPicPr>
        <p:blipFill rotWithShape="1">
          <a:blip r:embed="rId2">
            <a:alphaModFix amt="56000"/>
          </a:blip>
          <a:srcRect b="0" l="16171" r="18704" t="0"/>
          <a:stretch/>
        </p:blipFill>
        <p:spPr>
          <a:xfrm>
            <a:off x="-402625" y="1369750"/>
            <a:ext cx="7337952" cy="573915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 txBox="1"/>
          <p:nvPr>
            <p:ph type="title"/>
          </p:nvPr>
        </p:nvSpPr>
        <p:spPr>
          <a:xfrm>
            <a:off x="4256688" y="2401800"/>
            <a:ext cx="4658700" cy="527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b="0" sz="3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hasCustomPrompt="1" idx="2" type="title"/>
          </p:nvPr>
        </p:nvSpPr>
        <p:spPr>
          <a:xfrm>
            <a:off x="228600" y="1498357"/>
            <a:ext cx="3009300" cy="20664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0" sz="17100">
                <a:latin typeface="VT323"/>
                <a:ea typeface="VT323"/>
                <a:cs typeface="VT323"/>
                <a:sym typeface="VT323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Darker Grotesque SemiBold"/>
              <a:buChar char="●"/>
              <a:defRPr sz="1200"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pic>
        <p:nvPicPr>
          <p:cNvPr id="20" name="Google Shape;20;p4" title="tech.png"/>
          <p:cNvPicPr preferRelativeResize="0"/>
          <p:nvPr/>
        </p:nvPicPr>
        <p:blipFill rotWithShape="1">
          <a:blip r:embed="rId2">
            <a:alphaModFix amt="56000"/>
          </a:blip>
          <a:srcRect b="0" l="16171" r="18704" t="0"/>
          <a:stretch/>
        </p:blipFill>
        <p:spPr>
          <a:xfrm rot="-7459296">
            <a:off x="6267849" y="-814076"/>
            <a:ext cx="7337954" cy="573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1987354" y="1276075"/>
            <a:ext cx="51693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100">
                <a:solidFill>
                  <a:schemeClr val="dk2"/>
                </a:solidFill>
                <a:latin typeface="Red Hat Mono"/>
                <a:ea typeface="Red Hat Mono"/>
                <a:cs typeface="Red Hat Mono"/>
                <a:sym typeface="Red Hat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3" name="Google Shape;23;p5"/>
          <p:cNvSpPr txBox="1"/>
          <p:nvPr>
            <p:ph idx="2" type="subTitle"/>
          </p:nvPr>
        </p:nvSpPr>
        <p:spPr>
          <a:xfrm>
            <a:off x="1987354" y="3220595"/>
            <a:ext cx="51693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100">
                <a:solidFill>
                  <a:schemeClr val="dk2"/>
                </a:solidFill>
                <a:latin typeface="Red Hat Mono"/>
                <a:ea typeface="Red Hat Mono"/>
                <a:cs typeface="Red Hat Mono"/>
                <a:sym typeface="Red Hat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4" name="Google Shape;24;p5"/>
          <p:cNvSpPr txBox="1"/>
          <p:nvPr>
            <p:ph idx="3" type="subTitle"/>
          </p:nvPr>
        </p:nvSpPr>
        <p:spPr>
          <a:xfrm>
            <a:off x="1987350" y="1756451"/>
            <a:ext cx="5169300" cy="8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4" type="subTitle"/>
          </p:nvPr>
        </p:nvSpPr>
        <p:spPr>
          <a:xfrm>
            <a:off x="1987350" y="3700970"/>
            <a:ext cx="5169300" cy="8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type="title"/>
          </p:nvPr>
        </p:nvSpPr>
        <p:spPr>
          <a:xfrm>
            <a:off x="228600" y="329146"/>
            <a:ext cx="86868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b="0"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pic>
        <p:nvPicPr>
          <p:cNvPr id="27" name="Google Shape;27;p5" title="tech.png"/>
          <p:cNvPicPr preferRelativeResize="0"/>
          <p:nvPr/>
        </p:nvPicPr>
        <p:blipFill rotWithShape="1">
          <a:blip r:embed="rId2">
            <a:alphaModFix amt="56000"/>
          </a:blip>
          <a:srcRect b="0" l="16171" r="18704" t="0"/>
          <a:stretch/>
        </p:blipFill>
        <p:spPr>
          <a:xfrm rot="-10530784">
            <a:off x="-3574327" y="90649"/>
            <a:ext cx="7337953" cy="5739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228600" y="344189"/>
            <a:ext cx="86868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600"/>
              <a:buNone/>
              <a:defRPr b="0"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pic>
        <p:nvPicPr>
          <p:cNvPr id="30" name="Google Shape;30;p6" title="tech.png"/>
          <p:cNvPicPr preferRelativeResize="0"/>
          <p:nvPr/>
        </p:nvPicPr>
        <p:blipFill rotWithShape="1">
          <a:blip r:embed="rId2">
            <a:alphaModFix amt="56000"/>
          </a:blip>
          <a:srcRect b="0" l="16171" r="18704" t="0"/>
          <a:stretch/>
        </p:blipFill>
        <p:spPr>
          <a:xfrm>
            <a:off x="-4048425" y="166850"/>
            <a:ext cx="7337952" cy="573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228600" y="228600"/>
            <a:ext cx="3998400" cy="1445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1609625" y="2066125"/>
            <a:ext cx="3824100" cy="253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" name="Google Shape;34;p7"/>
          <p:cNvSpPr/>
          <p:nvPr>
            <p:ph idx="2" type="pic"/>
          </p:nvPr>
        </p:nvSpPr>
        <p:spPr>
          <a:xfrm>
            <a:off x="5715849" y="0"/>
            <a:ext cx="3428100" cy="5143500"/>
          </a:xfrm>
          <a:prstGeom prst="rect">
            <a:avLst/>
          </a:prstGeom>
          <a:noFill/>
          <a:ln>
            <a:noFill/>
          </a:ln>
        </p:spPr>
      </p:sp>
      <p:pic>
        <p:nvPicPr>
          <p:cNvPr id="35" name="Google Shape;35;p7" title="tech.png"/>
          <p:cNvPicPr preferRelativeResize="0"/>
          <p:nvPr/>
        </p:nvPicPr>
        <p:blipFill rotWithShape="1">
          <a:blip r:embed="rId2">
            <a:alphaModFix amt="56000"/>
          </a:blip>
          <a:srcRect b="0" l="16171" r="18704" t="0"/>
          <a:stretch/>
        </p:blipFill>
        <p:spPr>
          <a:xfrm>
            <a:off x="-2840400" y="2963700"/>
            <a:ext cx="7337952" cy="573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8" title="tech.png"/>
          <p:cNvPicPr preferRelativeResize="0"/>
          <p:nvPr/>
        </p:nvPicPr>
        <p:blipFill rotWithShape="1">
          <a:blip r:embed="rId2">
            <a:alphaModFix amt="56000"/>
          </a:blip>
          <a:srcRect b="0" l="16171" r="18704" t="0"/>
          <a:stretch/>
        </p:blipFill>
        <p:spPr>
          <a:xfrm rot="6267889">
            <a:off x="762674" y="-3144201"/>
            <a:ext cx="7337953" cy="5739151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8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720064" y="1580125"/>
            <a:ext cx="3597000" cy="23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2" type="subTitle"/>
          </p:nvPr>
        </p:nvSpPr>
        <p:spPr>
          <a:xfrm>
            <a:off x="4826936" y="1580125"/>
            <a:ext cx="3597000" cy="23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9" title="tech.png"/>
          <p:cNvPicPr preferRelativeResize="0"/>
          <p:nvPr/>
        </p:nvPicPr>
        <p:blipFill rotWithShape="1">
          <a:blip r:embed="rId2">
            <a:alphaModFix amt="56000"/>
          </a:blip>
          <a:srcRect b="0" l="16171" r="18704" t="0"/>
          <a:stretch/>
        </p:blipFill>
        <p:spPr>
          <a:xfrm flipH="1">
            <a:off x="1806050" y="3231600"/>
            <a:ext cx="7337952" cy="573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1227119" y="3685304"/>
            <a:ext cx="22929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1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/>
          <p:nvPr>
            <p:ph hasCustomPrompt="1" type="title"/>
          </p:nvPr>
        </p:nvSpPr>
        <p:spPr>
          <a:xfrm>
            <a:off x="1284000" y="1952850"/>
            <a:ext cx="6576000" cy="79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9" name="Google Shape;49;p11"/>
          <p:cNvSpPr txBox="1"/>
          <p:nvPr>
            <p:ph idx="1" type="subTitle"/>
          </p:nvPr>
        </p:nvSpPr>
        <p:spPr>
          <a:xfrm>
            <a:off x="1284000" y="2816250"/>
            <a:ext cx="6576000" cy="374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pic>
        <p:nvPicPr>
          <p:cNvPr id="50" name="Google Shape;50;p11" title="tech.png"/>
          <p:cNvPicPr preferRelativeResize="0"/>
          <p:nvPr/>
        </p:nvPicPr>
        <p:blipFill rotWithShape="1">
          <a:blip r:embed="rId2">
            <a:alphaModFix amt="56000"/>
          </a:blip>
          <a:srcRect b="0" l="16171" r="18704" t="0"/>
          <a:stretch/>
        </p:blipFill>
        <p:spPr>
          <a:xfrm>
            <a:off x="5048950" y="-297825"/>
            <a:ext cx="7337952" cy="573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2_1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13" title="tech.png"/>
          <p:cNvPicPr preferRelativeResize="0"/>
          <p:nvPr/>
        </p:nvPicPr>
        <p:blipFill rotWithShape="1">
          <a:blip r:embed="rId2">
            <a:alphaModFix amt="66000"/>
          </a:blip>
          <a:srcRect b="0" l="16171" r="18704" t="0"/>
          <a:stretch/>
        </p:blipFill>
        <p:spPr>
          <a:xfrm rot="4322965">
            <a:off x="2675537" y="1282750"/>
            <a:ext cx="9692323" cy="8371199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1220209" y="504648"/>
            <a:ext cx="3307500" cy="3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100">
                <a:solidFill>
                  <a:schemeClr val="dk2"/>
                </a:solidFill>
                <a:latin typeface="Red Hat Mono"/>
                <a:ea typeface="Red Hat Mono"/>
                <a:cs typeface="Red Hat Mono"/>
                <a:sym typeface="Red Hat Mono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2" type="subTitle"/>
          </p:nvPr>
        </p:nvSpPr>
        <p:spPr>
          <a:xfrm>
            <a:off x="1220209" y="1451585"/>
            <a:ext cx="3307500" cy="3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100">
                <a:solidFill>
                  <a:schemeClr val="dk2"/>
                </a:solidFill>
                <a:latin typeface="Red Hat Mono"/>
                <a:ea typeface="Red Hat Mono"/>
                <a:cs typeface="Red Hat Mono"/>
                <a:sym typeface="Red Hat Mono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6" name="Google Shape;56;p13"/>
          <p:cNvSpPr txBox="1"/>
          <p:nvPr>
            <p:ph idx="3" type="subTitle"/>
          </p:nvPr>
        </p:nvSpPr>
        <p:spPr>
          <a:xfrm>
            <a:off x="1220209" y="2398521"/>
            <a:ext cx="3307500" cy="3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100">
                <a:solidFill>
                  <a:schemeClr val="dk2"/>
                </a:solidFill>
                <a:latin typeface="Red Hat Mono"/>
                <a:ea typeface="Red Hat Mono"/>
                <a:cs typeface="Red Hat Mono"/>
                <a:sym typeface="Red Hat Mono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7" name="Google Shape;57;p13"/>
          <p:cNvSpPr txBox="1"/>
          <p:nvPr>
            <p:ph idx="4" type="subTitle"/>
          </p:nvPr>
        </p:nvSpPr>
        <p:spPr>
          <a:xfrm>
            <a:off x="1220209" y="3345458"/>
            <a:ext cx="3307500" cy="3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100">
                <a:solidFill>
                  <a:schemeClr val="dk2"/>
                </a:solidFill>
                <a:latin typeface="Red Hat Mono"/>
                <a:ea typeface="Red Hat Mono"/>
                <a:cs typeface="Red Hat Mono"/>
                <a:sym typeface="Red Hat Mono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8" name="Google Shape;58;p13"/>
          <p:cNvSpPr txBox="1"/>
          <p:nvPr>
            <p:ph idx="5" type="subTitle"/>
          </p:nvPr>
        </p:nvSpPr>
        <p:spPr>
          <a:xfrm>
            <a:off x="5314804" y="504648"/>
            <a:ext cx="3307500" cy="3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100">
                <a:solidFill>
                  <a:schemeClr val="dk2"/>
                </a:solidFill>
                <a:latin typeface="Red Hat Mono"/>
                <a:ea typeface="Red Hat Mono"/>
                <a:cs typeface="Red Hat Mono"/>
                <a:sym typeface="Red Hat Mono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9" name="Google Shape;59;p13"/>
          <p:cNvSpPr txBox="1"/>
          <p:nvPr>
            <p:ph idx="6" type="subTitle"/>
          </p:nvPr>
        </p:nvSpPr>
        <p:spPr>
          <a:xfrm>
            <a:off x="5314804" y="1451593"/>
            <a:ext cx="3307500" cy="3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100">
                <a:solidFill>
                  <a:schemeClr val="dk2"/>
                </a:solidFill>
                <a:latin typeface="Red Hat Mono"/>
                <a:ea typeface="Red Hat Mono"/>
                <a:cs typeface="Red Hat Mono"/>
                <a:sym typeface="Red Hat Mono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60" name="Google Shape;60;p13"/>
          <p:cNvSpPr txBox="1"/>
          <p:nvPr>
            <p:ph idx="7" type="subTitle"/>
          </p:nvPr>
        </p:nvSpPr>
        <p:spPr>
          <a:xfrm>
            <a:off x="5314804" y="2398539"/>
            <a:ext cx="3307500" cy="3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100">
                <a:solidFill>
                  <a:schemeClr val="dk2"/>
                </a:solidFill>
                <a:latin typeface="Red Hat Mono"/>
                <a:ea typeface="Red Hat Mono"/>
                <a:cs typeface="Red Hat Mono"/>
                <a:sym typeface="Red Hat Mono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61" name="Google Shape;61;p13"/>
          <p:cNvSpPr txBox="1"/>
          <p:nvPr>
            <p:ph idx="8" type="subTitle"/>
          </p:nvPr>
        </p:nvSpPr>
        <p:spPr>
          <a:xfrm>
            <a:off x="5314804" y="3345484"/>
            <a:ext cx="3307500" cy="3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100">
                <a:solidFill>
                  <a:schemeClr val="dk2"/>
                </a:solidFill>
                <a:latin typeface="Red Hat Mono"/>
                <a:ea typeface="Red Hat Mono"/>
                <a:cs typeface="Red Hat Mono"/>
                <a:sym typeface="Red Hat Mono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62" name="Google Shape;62;p13"/>
          <p:cNvSpPr txBox="1"/>
          <p:nvPr>
            <p:ph hasCustomPrompt="1" type="title"/>
          </p:nvPr>
        </p:nvSpPr>
        <p:spPr>
          <a:xfrm>
            <a:off x="521691" y="3465371"/>
            <a:ext cx="712200" cy="310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0" sz="4900">
                <a:solidFill>
                  <a:schemeClr val="dk2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3" name="Google Shape;63;p13"/>
          <p:cNvSpPr txBox="1"/>
          <p:nvPr>
            <p:ph hasCustomPrompt="1" idx="9" type="title"/>
          </p:nvPr>
        </p:nvSpPr>
        <p:spPr>
          <a:xfrm>
            <a:off x="521692" y="1571283"/>
            <a:ext cx="712200" cy="310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0" sz="4900">
                <a:solidFill>
                  <a:schemeClr val="dk2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4" name="Google Shape;64;p13"/>
          <p:cNvSpPr txBox="1"/>
          <p:nvPr>
            <p:ph hasCustomPrompt="1" idx="13" type="title"/>
          </p:nvPr>
        </p:nvSpPr>
        <p:spPr>
          <a:xfrm>
            <a:off x="522373" y="624538"/>
            <a:ext cx="710700" cy="31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0" sz="4900">
                <a:solidFill>
                  <a:schemeClr val="dk2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5" name="Google Shape;65;p13"/>
          <p:cNvSpPr txBox="1"/>
          <p:nvPr>
            <p:ph hasCustomPrompt="1" idx="14" type="title"/>
          </p:nvPr>
        </p:nvSpPr>
        <p:spPr>
          <a:xfrm>
            <a:off x="521691" y="2518327"/>
            <a:ext cx="7122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0" sz="4900">
                <a:solidFill>
                  <a:schemeClr val="dk2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66" name="Google Shape;66;p13"/>
          <p:cNvSpPr txBox="1"/>
          <p:nvPr>
            <p:ph hasCustomPrompt="1" idx="15" type="title"/>
          </p:nvPr>
        </p:nvSpPr>
        <p:spPr>
          <a:xfrm>
            <a:off x="4627489" y="1571508"/>
            <a:ext cx="712200" cy="310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0" sz="4900">
                <a:solidFill>
                  <a:schemeClr val="dk2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7" name="Google Shape;67;p13"/>
          <p:cNvSpPr txBox="1"/>
          <p:nvPr>
            <p:ph hasCustomPrompt="1" idx="16" type="title"/>
          </p:nvPr>
        </p:nvSpPr>
        <p:spPr>
          <a:xfrm>
            <a:off x="4627487" y="2518452"/>
            <a:ext cx="712200" cy="310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0" sz="4900">
                <a:solidFill>
                  <a:schemeClr val="dk2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" name="Google Shape;68;p13"/>
          <p:cNvSpPr txBox="1"/>
          <p:nvPr>
            <p:ph hasCustomPrompt="1" idx="17" type="title"/>
          </p:nvPr>
        </p:nvSpPr>
        <p:spPr>
          <a:xfrm>
            <a:off x="4627489" y="3465396"/>
            <a:ext cx="712200" cy="310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0" sz="4900">
                <a:solidFill>
                  <a:schemeClr val="dk2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9" name="Google Shape;69;p13"/>
          <p:cNvSpPr txBox="1"/>
          <p:nvPr>
            <p:ph hasCustomPrompt="1" idx="18" type="title"/>
          </p:nvPr>
        </p:nvSpPr>
        <p:spPr>
          <a:xfrm>
            <a:off x="4627489" y="624563"/>
            <a:ext cx="7122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0" sz="4900">
                <a:solidFill>
                  <a:schemeClr val="dk2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70" name="Google Shape;70;p13"/>
          <p:cNvSpPr txBox="1"/>
          <p:nvPr>
            <p:ph idx="19" type="title"/>
          </p:nvPr>
        </p:nvSpPr>
        <p:spPr>
          <a:xfrm>
            <a:off x="228600" y="4352104"/>
            <a:ext cx="8687100" cy="547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idx="1" type="subTitle"/>
          </p:nvPr>
        </p:nvSpPr>
        <p:spPr>
          <a:xfrm>
            <a:off x="1417350" y="2615513"/>
            <a:ext cx="6309300" cy="161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type="title"/>
          </p:nvPr>
        </p:nvSpPr>
        <p:spPr>
          <a:xfrm>
            <a:off x="1417350" y="910088"/>
            <a:ext cx="5262000" cy="1544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b="0" sz="57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pic>
        <p:nvPicPr>
          <p:cNvPr id="74" name="Google Shape;74;p14" title="tech.png"/>
          <p:cNvPicPr preferRelativeResize="0"/>
          <p:nvPr/>
        </p:nvPicPr>
        <p:blipFill rotWithShape="1">
          <a:blip r:embed="rId2">
            <a:alphaModFix amt="56000"/>
          </a:blip>
          <a:srcRect b="0" l="16171" r="18704" t="0"/>
          <a:stretch/>
        </p:blipFill>
        <p:spPr>
          <a:xfrm rot="-5111130">
            <a:off x="5582875" y="-1103551"/>
            <a:ext cx="7337952" cy="5739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ONE_COLUMN_TEXT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5" title="tech.png"/>
          <p:cNvPicPr preferRelativeResize="0"/>
          <p:nvPr/>
        </p:nvPicPr>
        <p:blipFill rotWithShape="1">
          <a:blip r:embed="rId2">
            <a:alphaModFix amt="56000"/>
          </a:blip>
          <a:srcRect b="0" l="16171" r="18704" t="0"/>
          <a:stretch/>
        </p:blipFill>
        <p:spPr>
          <a:xfrm>
            <a:off x="171450" y="-1813500"/>
            <a:ext cx="7337952" cy="573915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5"/>
          <p:cNvSpPr txBox="1"/>
          <p:nvPr>
            <p:ph idx="1" type="body"/>
          </p:nvPr>
        </p:nvSpPr>
        <p:spPr>
          <a:xfrm>
            <a:off x="228600" y="3276000"/>
            <a:ext cx="3710400" cy="16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8" name="Google Shape;78;p15"/>
          <p:cNvSpPr txBox="1"/>
          <p:nvPr>
            <p:ph type="title"/>
          </p:nvPr>
        </p:nvSpPr>
        <p:spPr>
          <a:xfrm>
            <a:off x="228600" y="342150"/>
            <a:ext cx="3710400" cy="1786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79" name="Google Shape;79;p15"/>
          <p:cNvSpPr/>
          <p:nvPr>
            <p:ph idx="2" type="pic"/>
          </p:nvPr>
        </p:nvSpPr>
        <p:spPr>
          <a:xfrm>
            <a:off x="4306500" y="0"/>
            <a:ext cx="4837500" cy="5143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228600" y="329146"/>
            <a:ext cx="86868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b="0"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pic>
        <p:nvPicPr>
          <p:cNvPr id="82" name="Google Shape;82;p16" title="tech.png"/>
          <p:cNvPicPr preferRelativeResize="0"/>
          <p:nvPr/>
        </p:nvPicPr>
        <p:blipFill rotWithShape="1">
          <a:blip r:embed="rId2">
            <a:alphaModFix amt="66000"/>
          </a:blip>
          <a:srcRect b="0" l="16171" r="18704" t="0"/>
          <a:stretch/>
        </p:blipFill>
        <p:spPr>
          <a:xfrm rot="2517579">
            <a:off x="3900887" y="-3385324"/>
            <a:ext cx="9692321" cy="83711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idx="1" type="subTitle"/>
          </p:nvPr>
        </p:nvSpPr>
        <p:spPr>
          <a:xfrm>
            <a:off x="2017726" y="2519050"/>
            <a:ext cx="5911800" cy="7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2" type="subTitle"/>
          </p:nvPr>
        </p:nvSpPr>
        <p:spPr>
          <a:xfrm>
            <a:off x="2017425" y="1205425"/>
            <a:ext cx="5911800" cy="7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idx="3" type="subTitle"/>
          </p:nvPr>
        </p:nvSpPr>
        <p:spPr>
          <a:xfrm>
            <a:off x="2017752" y="3832400"/>
            <a:ext cx="5911800" cy="7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7"/>
          <p:cNvSpPr txBox="1"/>
          <p:nvPr>
            <p:ph hasCustomPrompt="1" type="title"/>
          </p:nvPr>
        </p:nvSpPr>
        <p:spPr>
          <a:xfrm>
            <a:off x="1214429" y="2702041"/>
            <a:ext cx="930300" cy="310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4900">
                <a:solidFill>
                  <a:schemeClr val="dk2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8" name="Google Shape;88;p17"/>
          <p:cNvSpPr txBox="1"/>
          <p:nvPr>
            <p:ph hasCustomPrompt="1" idx="4" type="title"/>
          </p:nvPr>
        </p:nvSpPr>
        <p:spPr>
          <a:xfrm>
            <a:off x="1214834" y="1388566"/>
            <a:ext cx="928500" cy="31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4900">
                <a:solidFill>
                  <a:schemeClr val="dk2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89" name="Google Shape;89;p17"/>
          <p:cNvSpPr txBox="1"/>
          <p:nvPr>
            <p:ph hasCustomPrompt="1" idx="5" type="title"/>
          </p:nvPr>
        </p:nvSpPr>
        <p:spPr>
          <a:xfrm>
            <a:off x="1215241" y="4015391"/>
            <a:ext cx="9303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4900">
                <a:solidFill>
                  <a:schemeClr val="dk2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90" name="Google Shape;90;p17"/>
          <p:cNvSpPr txBox="1"/>
          <p:nvPr>
            <p:ph idx="6" type="title"/>
          </p:nvPr>
        </p:nvSpPr>
        <p:spPr>
          <a:xfrm>
            <a:off x="228600" y="342540"/>
            <a:ext cx="86868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600"/>
              <a:buNone/>
              <a:defRPr b="0"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pic>
        <p:nvPicPr>
          <p:cNvPr id="91" name="Google Shape;91;p17" title="tech.png"/>
          <p:cNvPicPr preferRelativeResize="0"/>
          <p:nvPr/>
        </p:nvPicPr>
        <p:blipFill rotWithShape="1">
          <a:blip r:embed="rId2">
            <a:alphaModFix amt="56000"/>
          </a:blip>
          <a:srcRect b="0" l="16171" r="18704" t="0"/>
          <a:stretch/>
        </p:blipFill>
        <p:spPr>
          <a:xfrm rot="-10530784">
            <a:off x="5058896" y="980700"/>
            <a:ext cx="7337953" cy="5739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8" title="tech.png"/>
          <p:cNvPicPr preferRelativeResize="0"/>
          <p:nvPr/>
        </p:nvPicPr>
        <p:blipFill rotWithShape="1">
          <a:blip r:embed="rId2">
            <a:alphaModFix amt="56000"/>
          </a:blip>
          <a:srcRect b="0" l="16171" r="18704" t="0"/>
          <a:stretch/>
        </p:blipFill>
        <p:spPr>
          <a:xfrm rot="6483983">
            <a:off x="2395549" y="-3969550"/>
            <a:ext cx="7337953" cy="57391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 txBox="1"/>
          <p:nvPr>
            <p:ph idx="1" type="subTitle"/>
          </p:nvPr>
        </p:nvSpPr>
        <p:spPr>
          <a:xfrm>
            <a:off x="575159" y="2020702"/>
            <a:ext cx="23811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8"/>
          <p:cNvSpPr txBox="1"/>
          <p:nvPr>
            <p:ph idx="2" type="subTitle"/>
          </p:nvPr>
        </p:nvSpPr>
        <p:spPr>
          <a:xfrm>
            <a:off x="3381450" y="2020702"/>
            <a:ext cx="23811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3" type="subTitle"/>
          </p:nvPr>
        </p:nvSpPr>
        <p:spPr>
          <a:xfrm>
            <a:off x="575159" y="3809380"/>
            <a:ext cx="23811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8"/>
          <p:cNvSpPr txBox="1"/>
          <p:nvPr>
            <p:ph idx="4" type="subTitle"/>
          </p:nvPr>
        </p:nvSpPr>
        <p:spPr>
          <a:xfrm>
            <a:off x="3381450" y="3809380"/>
            <a:ext cx="23811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8"/>
          <p:cNvSpPr txBox="1"/>
          <p:nvPr>
            <p:ph idx="5" type="subTitle"/>
          </p:nvPr>
        </p:nvSpPr>
        <p:spPr>
          <a:xfrm>
            <a:off x="6187747" y="2020702"/>
            <a:ext cx="23811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8"/>
          <p:cNvSpPr txBox="1"/>
          <p:nvPr>
            <p:ph idx="6" type="subTitle"/>
          </p:nvPr>
        </p:nvSpPr>
        <p:spPr>
          <a:xfrm>
            <a:off x="6187747" y="3809380"/>
            <a:ext cx="23811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8"/>
          <p:cNvSpPr txBox="1"/>
          <p:nvPr>
            <p:ph hasCustomPrompt="1" type="title"/>
          </p:nvPr>
        </p:nvSpPr>
        <p:spPr>
          <a:xfrm>
            <a:off x="6945397" y="3388303"/>
            <a:ext cx="865800" cy="310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900">
                <a:solidFill>
                  <a:schemeClr val="dk2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1" name="Google Shape;101;p18"/>
          <p:cNvSpPr txBox="1"/>
          <p:nvPr>
            <p:ph hasCustomPrompt="1" idx="7" type="title"/>
          </p:nvPr>
        </p:nvSpPr>
        <p:spPr>
          <a:xfrm>
            <a:off x="6945397" y="1609577"/>
            <a:ext cx="865800" cy="310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900">
                <a:solidFill>
                  <a:schemeClr val="dk2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2" name="Google Shape;102;p18"/>
          <p:cNvSpPr txBox="1"/>
          <p:nvPr>
            <p:ph hasCustomPrompt="1" idx="8" type="title"/>
          </p:nvPr>
        </p:nvSpPr>
        <p:spPr>
          <a:xfrm>
            <a:off x="4139850" y="1609877"/>
            <a:ext cx="864300" cy="31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900">
                <a:solidFill>
                  <a:schemeClr val="dk2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03" name="Google Shape;103;p18"/>
          <p:cNvSpPr txBox="1"/>
          <p:nvPr>
            <p:ph hasCustomPrompt="1" idx="9" type="title"/>
          </p:nvPr>
        </p:nvSpPr>
        <p:spPr>
          <a:xfrm>
            <a:off x="4139100" y="3388303"/>
            <a:ext cx="8658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900">
                <a:solidFill>
                  <a:schemeClr val="dk2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04" name="Google Shape;104;p18"/>
          <p:cNvSpPr txBox="1"/>
          <p:nvPr>
            <p:ph hasCustomPrompt="1" idx="13" type="title"/>
          </p:nvPr>
        </p:nvSpPr>
        <p:spPr>
          <a:xfrm>
            <a:off x="1332809" y="1609577"/>
            <a:ext cx="865800" cy="310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900">
                <a:solidFill>
                  <a:schemeClr val="dk2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5" name="Google Shape;105;p18"/>
          <p:cNvSpPr txBox="1"/>
          <p:nvPr>
            <p:ph hasCustomPrompt="1" idx="14" type="title"/>
          </p:nvPr>
        </p:nvSpPr>
        <p:spPr>
          <a:xfrm>
            <a:off x="1332809" y="3388304"/>
            <a:ext cx="8658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900">
                <a:solidFill>
                  <a:schemeClr val="dk2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06" name="Google Shape;106;p18"/>
          <p:cNvSpPr txBox="1"/>
          <p:nvPr>
            <p:ph idx="15" type="title"/>
          </p:nvPr>
        </p:nvSpPr>
        <p:spPr>
          <a:xfrm>
            <a:off x="228600" y="329146"/>
            <a:ext cx="86868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b="0"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>
            <p:ph hasCustomPrompt="1" type="title"/>
          </p:nvPr>
        </p:nvSpPr>
        <p:spPr>
          <a:xfrm>
            <a:off x="1416750" y="552438"/>
            <a:ext cx="6310500" cy="129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10900">
                <a:latin typeface="VT323"/>
                <a:ea typeface="VT323"/>
                <a:cs typeface="VT323"/>
                <a:sym typeface="VT323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09" name="Google Shape;109;p19"/>
          <p:cNvSpPr txBox="1"/>
          <p:nvPr>
            <p:ph idx="1" type="subTitle"/>
          </p:nvPr>
        </p:nvSpPr>
        <p:spPr>
          <a:xfrm>
            <a:off x="1416750" y="1725933"/>
            <a:ext cx="6310500" cy="448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9"/>
          <p:cNvSpPr txBox="1"/>
          <p:nvPr>
            <p:ph hasCustomPrompt="1" idx="2" type="title"/>
          </p:nvPr>
        </p:nvSpPr>
        <p:spPr>
          <a:xfrm>
            <a:off x="1416750" y="2969413"/>
            <a:ext cx="6310500" cy="129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10900">
                <a:latin typeface="VT323"/>
                <a:ea typeface="VT323"/>
                <a:cs typeface="VT323"/>
                <a:sym typeface="VT323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11" name="Google Shape;111;p19"/>
          <p:cNvSpPr txBox="1"/>
          <p:nvPr>
            <p:ph idx="3" type="subTitle"/>
          </p:nvPr>
        </p:nvSpPr>
        <p:spPr>
          <a:xfrm>
            <a:off x="1416750" y="4142860"/>
            <a:ext cx="6310500" cy="448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2" name="Google Shape;112;p19" title="tech.png"/>
          <p:cNvPicPr preferRelativeResize="0"/>
          <p:nvPr/>
        </p:nvPicPr>
        <p:blipFill rotWithShape="1">
          <a:blip r:embed="rId2">
            <a:alphaModFix amt="56000"/>
          </a:blip>
          <a:srcRect b="0" l="16171" r="18704" t="0"/>
          <a:stretch/>
        </p:blipFill>
        <p:spPr>
          <a:xfrm rot="-4120674">
            <a:off x="3828749" y="1924052"/>
            <a:ext cx="7337950" cy="5739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type="title"/>
          </p:nvPr>
        </p:nvSpPr>
        <p:spPr>
          <a:xfrm>
            <a:off x="1163850" y="1130000"/>
            <a:ext cx="3578100" cy="67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None/>
              <a:defRPr sz="3700"/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115" name="Google Shape;115;p20"/>
          <p:cNvSpPr txBox="1"/>
          <p:nvPr>
            <p:ph idx="1" type="subTitle"/>
          </p:nvPr>
        </p:nvSpPr>
        <p:spPr>
          <a:xfrm>
            <a:off x="1163850" y="1778320"/>
            <a:ext cx="2818200" cy="12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0"/>
          <p:cNvSpPr txBox="1"/>
          <p:nvPr/>
        </p:nvSpPr>
        <p:spPr>
          <a:xfrm>
            <a:off x="3034350" y="3201075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CREDITS:</a:t>
            </a:r>
            <a:r>
              <a:rPr lang="en"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This presentation template was created by </a:t>
            </a:r>
            <a:r>
              <a:rPr b="1" lang="en" sz="1000">
                <a:solidFill>
                  <a:schemeClr val="dk1"/>
                </a:solidFill>
                <a:uFill>
                  <a:noFill/>
                </a:uFill>
                <a:latin typeface="Archivo"/>
                <a:ea typeface="Archivo"/>
                <a:cs typeface="Archivo"/>
                <a:sym typeface="Archiv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and includes icons, infographics &amp; images by </a:t>
            </a:r>
            <a:r>
              <a:rPr b="1" lang="en" sz="1000">
                <a:solidFill>
                  <a:schemeClr val="dk1"/>
                </a:solidFill>
                <a:uFill>
                  <a:noFill/>
                </a:uFill>
                <a:latin typeface="Archivo"/>
                <a:ea typeface="Archivo"/>
                <a:cs typeface="Archivo"/>
                <a:sym typeface="Archiv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endParaRPr b="1" sz="1000" u="sng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117" name="Google Shape;117;p20" title="tech.png"/>
          <p:cNvPicPr preferRelativeResize="0"/>
          <p:nvPr/>
        </p:nvPicPr>
        <p:blipFill rotWithShape="1">
          <a:blip r:embed="rId4">
            <a:alphaModFix amt="66000"/>
          </a:blip>
          <a:srcRect b="0" l="16171" r="18704" t="0"/>
          <a:stretch/>
        </p:blipFill>
        <p:spPr>
          <a:xfrm rot="-6250088">
            <a:off x="5539411" y="-907324"/>
            <a:ext cx="9692322" cy="8371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1" title="tech.png"/>
          <p:cNvPicPr preferRelativeResize="0"/>
          <p:nvPr/>
        </p:nvPicPr>
        <p:blipFill rotWithShape="1">
          <a:blip r:embed="rId2">
            <a:alphaModFix amt="66000"/>
          </a:blip>
          <a:srcRect b="0" l="16171" r="18704" t="0"/>
          <a:stretch/>
        </p:blipFill>
        <p:spPr>
          <a:xfrm rot="-6250088">
            <a:off x="-3836764" y="-3130824"/>
            <a:ext cx="9692322" cy="8371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2" title="tech.png"/>
          <p:cNvPicPr preferRelativeResize="0"/>
          <p:nvPr/>
        </p:nvPicPr>
        <p:blipFill rotWithShape="1">
          <a:blip r:embed="rId2">
            <a:alphaModFix amt="66000"/>
          </a:blip>
          <a:srcRect b="0" l="16171" r="18704" t="0"/>
          <a:stretch/>
        </p:blipFill>
        <p:spPr>
          <a:xfrm rot="-6250088">
            <a:off x="1293336" y="767001"/>
            <a:ext cx="9692322" cy="8371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Mono"/>
              <a:buNone/>
              <a:defRPr sz="2600">
                <a:solidFill>
                  <a:schemeClr val="dk1"/>
                </a:solidFill>
                <a:latin typeface="Red Hat Mono"/>
                <a:ea typeface="Red Hat Mono"/>
                <a:cs typeface="Red Hat Mono"/>
                <a:sym typeface="Red Hat Mono"/>
              </a:defRPr>
            </a:lvl1pPr>
            <a:lvl2pPr lvl="1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Mono"/>
              <a:buNone/>
              <a:defRPr sz="2600">
                <a:solidFill>
                  <a:schemeClr val="dk1"/>
                </a:solidFill>
                <a:latin typeface="Red Hat Mono"/>
                <a:ea typeface="Red Hat Mono"/>
                <a:cs typeface="Red Hat Mono"/>
                <a:sym typeface="Red Hat Mono"/>
              </a:defRPr>
            </a:lvl2pPr>
            <a:lvl3pPr lvl="2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Mono"/>
              <a:buNone/>
              <a:defRPr sz="2600">
                <a:solidFill>
                  <a:schemeClr val="dk1"/>
                </a:solidFill>
                <a:latin typeface="Red Hat Mono"/>
                <a:ea typeface="Red Hat Mono"/>
                <a:cs typeface="Red Hat Mono"/>
                <a:sym typeface="Red Hat Mono"/>
              </a:defRPr>
            </a:lvl3pPr>
            <a:lvl4pPr lvl="3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Mono"/>
              <a:buNone/>
              <a:defRPr sz="2600">
                <a:solidFill>
                  <a:schemeClr val="dk1"/>
                </a:solidFill>
                <a:latin typeface="Red Hat Mono"/>
                <a:ea typeface="Red Hat Mono"/>
                <a:cs typeface="Red Hat Mono"/>
                <a:sym typeface="Red Hat Mono"/>
              </a:defRPr>
            </a:lvl4pPr>
            <a:lvl5pPr lvl="4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Mono"/>
              <a:buNone/>
              <a:defRPr sz="2600">
                <a:solidFill>
                  <a:schemeClr val="dk1"/>
                </a:solidFill>
                <a:latin typeface="Red Hat Mono"/>
                <a:ea typeface="Red Hat Mono"/>
                <a:cs typeface="Red Hat Mono"/>
                <a:sym typeface="Red Hat Mono"/>
              </a:defRPr>
            </a:lvl5pPr>
            <a:lvl6pPr lvl="5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Mono"/>
              <a:buNone/>
              <a:defRPr sz="2600">
                <a:solidFill>
                  <a:schemeClr val="dk1"/>
                </a:solidFill>
                <a:latin typeface="Red Hat Mono"/>
                <a:ea typeface="Red Hat Mono"/>
                <a:cs typeface="Red Hat Mono"/>
                <a:sym typeface="Red Hat Mono"/>
              </a:defRPr>
            </a:lvl6pPr>
            <a:lvl7pPr lvl="6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Mono"/>
              <a:buNone/>
              <a:defRPr sz="2600">
                <a:solidFill>
                  <a:schemeClr val="dk1"/>
                </a:solidFill>
                <a:latin typeface="Red Hat Mono"/>
                <a:ea typeface="Red Hat Mono"/>
                <a:cs typeface="Red Hat Mono"/>
                <a:sym typeface="Red Hat Mono"/>
              </a:defRPr>
            </a:lvl7pPr>
            <a:lvl8pPr lvl="7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Mono"/>
              <a:buNone/>
              <a:defRPr sz="2600">
                <a:solidFill>
                  <a:schemeClr val="dk1"/>
                </a:solidFill>
                <a:latin typeface="Red Hat Mono"/>
                <a:ea typeface="Red Hat Mono"/>
                <a:cs typeface="Red Hat Mono"/>
                <a:sym typeface="Red Hat Mono"/>
              </a:defRPr>
            </a:lvl8pPr>
            <a:lvl9pPr lvl="8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Mono"/>
              <a:buNone/>
              <a:defRPr sz="2600">
                <a:solidFill>
                  <a:schemeClr val="dk1"/>
                </a:solidFill>
                <a:latin typeface="Red Hat Mono"/>
                <a:ea typeface="Red Hat Mono"/>
                <a:cs typeface="Red Hat Mono"/>
                <a:sym typeface="Red Hat Mon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/>
        </p:nvSpPr>
        <p:spPr>
          <a:xfrm>
            <a:off x="685800" y="850900"/>
            <a:ext cx="66039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6E52C2"/>
                </a:solidFill>
              </a:rPr>
              <a:t>ALIKEAUDIENCE SKILL TEST</a:t>
            </a:r>
            <a:endParaRPr b="1" sz="1100">
              <a:solidFill>
                <a:srgbClr val="6E52C2"/>
              </a:solidFill>
            </a:endParaRPr>
          </a:p>
        </p:txBody>
      </p:sp>
      <p:sp>
        <p:nvSpPr>
          <p:cNvPr id="127" name="Google Shape;127;p23"/>
          <p:cNvSpPr txBox="1"/>
          <p:nvPr/>
        </p:nvSpPr>
        <p:spPr>
          <a:xfrm>
            <a:off x="685800" y="1511300"/>
            <a:ext cx="7493100" cy="14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900">
                <a:solidFill>
                  <a:srgbClr val="121F2E"/>
                </a:solidFill>
              </a:rPr>
              <a:t>用户数据探索</a:t>
            </a:r>
            <a:endParaRPr b="1" sz="3900">
              <a:solidFill>
                <a:srgbClr val="121F2E"/>
              </a:solidFill>
            </a:endParaRPr>
          </a:p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121F2E"/>
                </a:solidFill>
              </a:rPr>
              <a:t>从原始数据到受众人群画像分析</a:t>
            </a:r>
            <a:endParaRPr b="1" sz="3900">
              <a:solidFill>
                <a:srgbClr val="121F2E"/>
              </a:solidFill>
            </a:endParaRPr>
          </a:p>
        </p:txBody>
      </p:sp>
      <p:sp>
        <p:nvSpPr>
          <p:cNvPr id="128" name="Google Shape;128;p23"/>
          <p:cNvSpPr txBox="1"/>
          <p:nvPr/>
        </p:nvSpPr>
        <p:spPr>
          <a:xfrm>
            <a:off x="685800" y="3141925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21F2E"/>
                </a:solidFill>
              </a:rPr>
              <a:t>Cassie</a:t>
            </a:r>
            <a:endParaRPr sz="1300">
              <a:solidFill>
                <a:srgbClr val="121F2E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/>
          <p:nvPr/>
        </p:nvSpPr>
        <p:spPr>
          <a:xfrm>
            <a:off x="660400" y="1168400"/>
            <a:ext cx="1333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200">
                <a:solidFill>
                  <a:srgbClr val="6E52C2"/>
                </a:solidFill>
              </a:rPr>
              <a:t>01</a:t>
            </a:r>
            <a:endParaRPr b="1" sz="4200">
              <a:solidFill>
                <a:srgbClr val="6E52C2"/>
              </a:solidFill>
            </a:endParaRPr>
          </a:p>
        </p:txBody>
      </p:sp>
      <p:sp>
        <p:nvSpPr>
          <p:cNvPr id="134" name="Google Shape;134;p24"/>
          <p:cNvSpPr txBox="1"/>
          <p:nvPr/>
        </p:nvSpPr>
        <p:spPr>
          <a:xfrm>
            <a:off x="660400" y="2006600"/>
            <a:ext cx="77469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rgbClr val="121F2E"/>
                </a:solidFill>
              </a:rPr>
              <a:t>整体概览</a:t>
            </a:r>
            <a:endParaRPr b="1" sz="3100">
              <a:solidFill>
                <a:srgbClr val="121F2E"/>
              </a:solidFill>
            </a:endParaRPr>
          </a:p>
        </p:txBody>
      </p:sp>
      <p:sp>
        <p:nvSpPr>
          <p:cNvPr id="135" name="Google Shape;135;p24"/>
          <p:cNvSpPr/>
          <p:nvPr/>
        </p:nvSpPr>
        <p:spPr>
          <a:xfrm>
            <a:off x="685800" y="2908300"/>
            <a:ext cx="1143000" cy="50700"/>
          </a:xfrm>
          <a:prstGeom prst="rect">
            <a:avLst/>
          </a:prstGeom>
          <a:solidFill>
            <a:srgbClr val="6E52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5"/>
          <p:cNvSpPr txBox="1"/>
          <p:nvPr/>
        </p:nvSpPr>
        <p:spPr>
          <a:xfrm>
            <a:off x="330200" y="406400"/>
            <a:ext cx="838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121F2E"/>
                </a:solidFill>
              </a:rPr>
              <a:t>1.1 项目 Pipeline 与技术选择</a:t>
            </a:r>
            <a:endParaRPr b="1" sz="2300">
              <a:solidFill>
                <a:srgbClr val="121F2E"/>
              </a:solidFill>
            </a:endParaRPr>
          </a:p>
        </p:txBody>
      </p:sp>
      <p:sp>
        <p:nvSpPr>
          <p:cNvPr id="141" name="Google Shape;141;p25"/>
          <p:cNvSpPr/>
          <p:nvPr/>
        </p:nvSpPr>
        <p:spPr>
          <a:xfrm>
            <a:off x="330200" y="889000"/>
            <a:ext cx="812700" cy="38100"/>
          </a:xfrm>
          <a:prstGeom prst="rect">
            <a:avLst/>
          </a:prstGeom>
          <a:solidFill>
            <a:srgbClr val="6E52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42" name="Google Shape;142;p25"/>
          <p:cNvSpPr/>
          <p:nvPr/>
        </p:nvSpPr>
        <p:spPr>
          <a:xfrm>
            <a:off x="330200" y="1168400"/>
            <a:ext cx="2709300" cy="3200400"/>
          </a:xfrm>
          <a:prstGeom prst="roundRect">
            <a:avLst>
              <a:gd fmla="val 16667" name="adj"/>
            </a:avLst>
          </a:prstGeom>
          <a:solidFill>
            <a:srgbClr val="F6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43" name="Google Shape;143;p25"/>
          <p:cNvSpPr txBox="1"/>
          <p:nvPr/>
        </p:nvSpPr>
        <p:spPr>
          <a:xfrm>
            <a:off x="533400" y="1371600"/>
            <a:ext cx="23028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6E52C2"/>
                </a:solidFill>
              </a:rPr>
              <a:t>处理流程</a:t>
            </a:r>
            <a:endParaRPr b="1" sz="1500">
              <a:solidFill>
                <a:srgbClr val="6E52C2"/>
              </a:solidFill>
            </a:endParaRPr>
          </a:p>
        </p:txBody>
      </p:sp>
      <p:sp>
        <p:nvSpPr>
          <p:cNvPr id="144" name="Google Shape;144;p25"/>
          <p:cNvSpPr txBox="1"/>
          <p:nvPr/>
        </p:nvSpPr>
        <p:spPr>
          <a:xfrm>
            <a:off x="533400" y="1841500"/>
            <a:ext cx="2302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AutoNum type="arabicPeriod"/>
            </a:pPr>
            <a:r>
              <a:rPr lang="en" sz="1220">
                <a:solidFill>
                  <a:srgbClr val="121F2E"/>
                </a:solidFill>
              </a:rPr>
              <a:t>读取原始 CSV</a:t>
            </a:r>
            <a:endParaRPr sz="1220">
              <a:solidFill>
                <a:srgbClr val="121F2E"/>
              </a:solidFill>
            </a:endParaRPr>
          </a:p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AutoNum type="arabicPeriod"/>
            </a:pPr>
            <a:r>
              <a:rPr lang="en" sz="1220">
                <a:solidFill>
                  <a:srgbClr val="121F2E"/>
                </a:solidFill>
              </a:rPr>
              <a:t>检查类型、空值和唯一性</a:t>
            </a:r>
            <a:endParaRPr sz="1220">
              <a:solidFill>
                <a:srgbClr val="121F2E"/>
              </a:solidFill>
            </a:endParaRPr>
          </a:p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AutoNum type="arabicPeriod"/>
            </a:pPr>
            <a:r>
              <a:rPr lang="en" sz="1220">
                <a:solidFill>
                  <a:srgbClr val="121F2E"/>
                </a:solidFill>
              </a:rPr>
              <a:t>扩充地理、时间、IP 和 UA 字段</a:t>
            </a:r>
            <a:endParaRPr sz="1220">
              <a:solidFill>
                <a:srgbClr val="121F2E"/>
              </a:solidFill>
            </a:endParaRPr>
          </a:p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AutoNum type="arabicPeriod"/>
            </a:pPr>
            <a:r>
              <a:rPr lang="en" sz="1220">
                <a:solidFill>
                  <a:srgbClr val="121F2E"/>
                </a:solidFill>
              </a:rPr>
              <a:t>输出 38 列事件明细</a:t>
            </a:r>
            <a:endParaRPr sz="1220">
              <a:solidFill>
                <a:srgbClr val="121F2E"/>
              </a:solidFill>
            </a:endParaRPr>
          </a:p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AutoNum type="arabicPeriod"/>
            </a:pPr>
            <a:r>
              <a:rPr lang="en" sz="1220">
                <a:solidFill>
                  <a:srgbClr val="121F2E"/>
                </a:solidFill>
              </a:rPr>
              <a:t>检查匹配率和异常数据</a:t>
            </a:r>
            <a:endParaRPr sz="1220">
              <a:solidFill>
                <a:srgbClr val="121F2E"/>
              </a:solidFill>
            </a:endParaRPr>
          </a:p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AutoNum type="arabicPeriod"/>
            </a:pPr>
            <a:r>
              <a:rPr lang="en" sz="1220">
                <a:solidFill>
                  <a:srgbClr val="121F2E"/>
                </a:solidFill>
              </a:rPr>
              <a:t>数据可视化及分析</a:t>
            </a:r>
            <a:endParaRPr sz="1220">
              <a:solidFill>
                <a:srgbClr val="121F2E"/>
              </a:solidFill>
            </a:endParaRPr>
          </a:p>
        </p:txBody>
      </p:sp>
      <p:sp>
        <p:nvSpPr>
          <p:cNvPr id="145" name="Google Shape;145;p25"/>
          <p:cNvSpPr/>
          <p:nvPr/>
        </p:nvSpPr>
        <p:spPr>
          <a:xfrm>
            <a:off x="3217333" y="1168400"/>
            <a:ext cx="2709300" cy="3200400"/>
          </a:xfrm>
          <a:prstGeom prst="roundRect">
            <a:avLst>
              <a:gd fmla="val 16667" name="adj"/>
            </a:avLst>
          </a:prstGeom>
          <a:solidFill>
            <a:srgbClr val="F6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46" name="Google Shape;146;p25"/>
          <p:cNvSpPr txBox="1"/>
          <p:nvPr/>
        </p:nvSpPr>
        <p:spPr>
          <a:xfrm>
            <a:off x="3420533" y="1371600"/>
            <a:ext cx="23028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6E52C2"/>
                </a:solidFill>
              </a:rPr>
              <a:t>使用的工具</a:t>
            </a:r>
            <a:endParaRPr b="1" sz="1500">
              <a:solidFill>
                <a:srgbClr val="6E52C2"/>
              </a:solidFill>
            </a:endParaRPr>
          </a:p>
        </p:txBody>
      </p:sp>
      <p:sp>
        <p:nvSpPr>
          <p:cNvPr id="147" name="Google Shape;147;p25"/>
          <p:cNvSpPr txBox="1"/>
          <p:nvPr/>
        </p:nvSpPr>
        <p:spPr>
          <a:xfrm>
            <a:off x="3420533" y="1841500"/>
            <a:ext cx="2302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Python、Pandas</a:t>
            </a:r>
            <a:endParaRPr sz="1220">
              <a:solidFill>
                <a:srgbClr val="121F2E"/>
              </a:solidFill>
            </a:endParaRPr>
          </a:p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GeoPandas、GeoNames</a:t>
            </a:r>
            <a:endParaRPr sz="1220">
              <a:solidFill>
                <a:srgbClr val="121F2E"/>
              </a:solidFill>
            </a:endParaRPr>
          </a:p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ipaddress、DB-IP、CAIDA</a:t>
            </a:r>
            <a:endParaRPr sz="1220">
              <a:solidFill>
                <a:srgbClr val="121F2E"/>
              </a:solidFill>
            </a:endParaRPr>
          </a:p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UA Parser</a:t>
            </a:r>
            <a:endParaRPr sz="1220">
              <a:solidFill>
                <a:srgbClr val="121F2E"/>
              </a:solidFill>
            </a:endParaRPr>
          </a:p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Parquet、CSV</a:t>
            </a:r>
            <a:endParaRPr sz="1220">
              <a:solidFill>
                <a:srgbClr val="121F2E"/>
              </a:solidFill>
            </a:endParaRPr>
          </a:p>
        </p:txBody>
      </p:sp>
      <p:sp>
        <p:nvSpPr>
          <p:cNvPr id="148" name="Google Shape;148;p25"/>
          <p:cNvSpPr/>
          <p:nvPr/>
        </p:nvSpPr>
        <p:spPr>
          <a:xfrm>
            <a:off x="6104467" y="1168400"/>
            <a:ext cx="2709300" cy="3200400"/>
          </a:xfrm>
          <a:prstGeom prst="roundRect">
            <a:avLst>
              <a:gd fmla="val 16667" name="adj"/>
            </a:avLst>
          </a:prstGeom>
          <a:solidFill>
            <a:srgbClr val="F6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49" name="Google Shape;149;p25"/>
          <p:cNvSpPr txBox="1"/>
          <p:nvPr/>
        </p:nvSpPr>
        <p:spPr>
          <a:xfrm>
            <a:off x="6307667" y="1371600"/>
            <a:ext cx="23028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6E52C2"/>
                </a:solidFill>
              </a:rPr>
              <a:t>为什么没有用数据库</a:t>
            </a:r>
            <a:endParaRPr b="1" sz="1500">
              <a:solidFill>
                <a:srgbClr val="6E52C2"/>
              </a:solidFill>
            </a:endParaRPr>
          </a:p>
        </p:txBody>
      </p:sp>
      <p:sp>
        <p:nvSpPr>
          <p:cNvPr id="150" name="Google Shape;150;p25"/>
          <p:cNvSpPr txBox="1"/>
          <p:nvPr/>
        </p:nvSpPr>
        <p:spPr>
          <a:xfrm>
            <a:off x="6307667" y="1841500"/>
            <a:ext cx="2302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数据只有 10 万条，规模较小</a:t>
            </a:r>
            <a:endParaRPr sz="1220">
              <a:solidFill>
                <a:srgbClr val="121F2E"/>
              </a:solidFill>
            </a:endParaRPr>
          </a:p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只有一张静态事件表</a:t>
            </a:r>
            <a:endParaRPr sz="1220">
              <a:solidFill>
                <a:srgbClr val="121F2E"/>
              </a:solidFill>
            </a:endParaRPr>
          </a:p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不需要持续写入和多人查询</a:t>
            </a:r>
            <a:endParaRPr sz="1220">
              <a:solidFill>
                <a:srgbClr val="121F2E"/>
              </a:solidFill>
            </a:endParaRPr>
          </a:p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Parquet 能保留类型并压缩数据</a:t>
            </a:r>
            <a:endParaRPr sz="1220">
              <a:solidFill>
                <a:srgbClr val="121F2E"/>
              </a:solidFill>
            </a:endParaRPr>
          </a:p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数据增长后再接入 SQL 数据仓库</a:t>
            </a:r>
            <a:endParaRPr sz="1220">
              <a:solidFill>
                <a:srgbClr val="121F2E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6"/>
          <p:cNvSpPr txBox="1"/>
          <p:nvPr/>
        </p:nvSpPr>
        <p:spPr>
          <a:xfrm>
            <a:off x="330200" y="406400"/>
            <a:ext cx="838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</a:rPr>
              <a:t>1.2 </a:t>
            </a:r>
            <a:r>
              <a:rPr b="1" lang="en" sz="2300">
                <a:solidFill>
                  <a:srgbClr val="121F2E"/>
                </a:solidFill>
              </a:rPr>
              <a:t>数据概览</a:t>
            </a:r>
            <a:endParaRPr b="1" sz="2300">
              <a:solidFill>
                <a:srgbClr val="121F2E"/>
              </a:solidFill>
            </a:endParaRPr>
          </a:p>
        </p:txBody>
      </p:sp>
      <p:sp>
        <p:nvSpPr>
          <p:cNvPr id="156" name="Google Shape;156;p26"/>
          <p:cNvSpPr/>
          <p:nvPr/>
        </p:nvSpPr>
        <p:spPr>
          <a:xfrm>
            <a:off x="330200" y="889000"/>
            <a:ext cx="812700" cy="38100"/>
          </a:xfrm>
          <a:prstGeom prst="rect">
            <a:avLst/>
          </a:prstGeom>
          <a:solidFill>
            <a:srgbClr val="6E52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57" name="Google Shape;157;p26"/>
          <p:cNvSpPr/>
          <p:nvPr/>
        </p:nvSpPr>
        <p:spPr>
          <a:xfrm>
            <a:off x="330200" y="1168400"/>
            <a:ext cx="4128000" cy="3200400"/>
          </a:xfrm>
          <a:prstGeom prst="roundRect">
            <a:avLst>
              <a:gd fmla="val 16667" name="adj"/>
            </a:avLst>
          </a:prstGeom>
          <a:solidFill>
            <a:srgbClr val="F6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58" name="Google Shape;158;p26"/>
          <p:cNvSpPr txBox="1"/>
          <p:nvPr/>
        </p:nvSpPr>
        <p:spPr>
          <a:xfrm>
            <a:off x="533400" y="1371600"/>
            <a:ext cx="23028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6E52C2"/>
                </a:solidFill>
              </a:rPr>
              <a:t>样本情况</a:t>
            </a:r>
            <a:endParaRPr b="1" sz="1500">
              <a:solidFill>
                <a:srgbClr val="6E52C2"/>
              </a:solidFill>
            </a:endParaRPr>
          </a:p>
        </p:txBody>
      </p:sp>
      <p:sp>
        <p:nvSpPr>
          <p:cNvPr id="159" name="Google Shape;159;p26"/>
          <p:cNvSpPr txBox="1"/>
          <p:nvPr/>
        </p:nvSpPr>
        <p:spPr>
          <a:xfrm>
            <a:off x="533400" y="1841500"/>
            <a:ext cx="34359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数量级：100,000 行 × 5 个原始字段</a:t>
            </a:r>
            <a:endParaRPr sz="1220">
              <a:solidFill>
                <a:srgbClr val="121F2E"/>
              </a:solidFill>
            </a:endParaRPr>
          </a:p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字段类型：全部原始字段读入为 strin</a:t>
            </a:r>
            <a:endParaRPr sz="1220">
              <a:solidFill>
                <a:srgbClr val="121F2E"/>
              </a:solidFill>
            </a:endParaRPr>
          </a:p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时间覆盖： 2022-12-01 至 12-31（UTC）</a:t>
            </a:r>
            <a:endParaRPr sz="1220">
              <a:solidFill>
                <a:srgbClr val="121F2E"/>
              </a:solidFill>
            </a:endParaRPr>
          </a:p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唯一性：</a:t>
            </a:r>
            <a:r>
              <a:rPr lang="en" sz="1220">
                <a:solidFill>
                  <a:srgbClr val="121F2E"/>
                </a:solidFill>
              </a:rPr>
              <a:t>每个 user_id 只出现一次，因此不能做留存、重复访问、移动轨迹、用户变化分析</a:t>
            </a:r>
            <a:endParaRPr sz="1220">
              <a:solidFill>
                <a:srgbClr val="121F2E"/>
              </a:solidFill>
            </a:endParaRPr>
          </a:p>
        </p:txBody>
      </p:sp>
      <p:sp>
        <p:nvSpPr>
          <p:cNvPr id="160" name="Google Shape;160;p26"/>
          <p:cNvSpPr/>
          <p:nvPr/>
        </p:nvSpPr>
        <p:spPr>
          <a:xfrm>
            <a:off x="4693747" y="1225550"/>
            <a:ext cx="3587400" cy="3200400"/>
          </a:xfrm>
          <a:prstGeom prst="roundRect">
            <a:avLst>
              <a:gd fmla="val 16667" name="adj"/>
            </a:avLst>
          </a:prstGeom>
          <a:solidFill>
            <a:srgbClr val="F6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61" name="Google Shape;161;p26"/>
          <p:cNvSpPr txBox="1"/>
          <p:nvPr/>
        </p:nvSpPr>
        <p:spPr>
          <a:xfrm>
            <a:off x="5005233" y="1371600"/>
            <a:ext cx="23028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6E52C2"/>
                </a:solidFill>
              </a:rPr>
              <a:t>缺失值处理</a:t>
            </a:r>
            <a:endParaRPr b="1" sz="1500">
              <a:solidFill>
                <a:srgbClr val="6E52C2"/>
              </a:solidFill>
            </a:endParaRPr>
          </a:p>
        </p:txBody>
      </p:sp>
      <p:sp>
        <p:nvSpPr>
          <p:cNvPr id="162" name="Google Shape;162;p26"/>
          <p:cNvSpPr txBox="1"/>
          <p:nvPr/>
        </p:nvSpPr>
        <p:spPr>
          <a:xfrm>
            <a:off x="5005222" y="1898650"/>
            <a:ext cx="3072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仅 user_agent 存在 1,909 条空值</a:t>
            </a:r>
            <a:endParaRPr sz="1220">
              <a:solidFill>
                <a:srgbClr val="121F2E"/>
              </a:solidFill>
            </a:endParaRPr>
          </a:p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UA 缺失时其余字段仍可能有效，因此不将整行删除</a:t>
            </a:r>
            <a:endParaRPr sz="1220">
              <a:solidFill>
                <a:srgbClr val="121F2E"/>
              </a:solidFill>
            </a:endParaRPr>
          </a:p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未知值单独编码，不用众数或字符串填补</a:t>
            </a:r>
            <a:endParaRPr sz="1220">
              <a:solidFill>
                <a:srgbClr val="121F2E"/>
              </a:solidFill>
            </a:endParaRPr>
          </a:p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原始字段始终保留，便于追溯</a:t>
            </a:r>
            <a:endParaRPr sz="1220">
              <a:solidFill>
                <a:srgbClr val="121F2E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7"/>
          <p:cNvSpPr txBox="1"/>
          <p:nvPr/>
        </p:nvSpPr>
        <p:spPr>
          <a:xfrm>
            <a:off x="660400" y="1168400"/>
            <a:ext cx="1333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200">
                <a:solidFill>
                  <a:srgbClr val="6E52C2"/>
                </a:solidFill>
              </a:rPr>
              <a:t>02</a:t>
            </a:r>
            <a:endParaRPr b="1" sz="4200">
              <a:solidFill>
                <a:srgbClr val="6E52C2"/>
              </a:solidFill>
            </a:endParaRPr>
          </a:p>
        </p:txBody>
      </p:sp>
      <p:sp>
        <p:nvSpPr>
          <p:cNvPr id="168" name="Google Shape;168;p27"/>
          <p:cNvSpPr txBox="1"/>
          <p:nvPr/>
        </p:nvSpPr>
        <p:spPr>
          <a:xfrm>
            <a:off x="660400" y="2006600"/>
            <a:ext cx="77469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rgbClr val="121F2E"/>
                </a:solidFill>
              </a:rPr>
              <a:t>数据扩充与特征工程</a:t>
            </a:r>
            <a:endParaRPr b="1" sz="3100">
              <a:solidFill>
                <a:srgbClr val="121F2E"/>
              </a:solidFill>
            </a:endParaRPr>
          </a:p>
        </p:txBody>
      </p:sp>
      <p:sp>
        <p:nvSpPr>
          <p:cNvPr id="169" name="Google Shape;169;p27"/>
          <p:cNvSpPr/>
          <p:nvPr/>
        </p:nvSpPr>
        <p:spPr>
          <a:xfrm>
            <a:off x="685800" y="2908300"/>
            <a:ext cx="1143000" cy="50700"/>
          </a:xfrm>
          <a:prstGeom prst="rect">
            <a:avLst/>
          </a:prstGeom>
          <a:solidFill>
            <a:srgbClr val="6E52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 txBox="1"/>
          <p:nvPr/>
        </p:nvSpPr>
        <p:spPr>
          <a:xfrm>
            <a:off x="330200" y="190500"/>
            <a:ext cx="173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50">
                <a:solidFill>
                  <a:srgbClr val="6E52C2"/>
                </a:solidFill>
              </a:rPr>
              <a:t>02 数据扩充与特征工程</a:t>
            </a:r>
            <a:endParaRPr b="1" sz="850">
              <a:solidFill>
                <a:srgbClr val="6E52C2"/>
              </a:solidFill>
            </a:endParaRPr>
          </a:p>
        </p:txBody>
      </p:sp>
      <p:sp>
        <p:nvSpPr>
          <p:cNvPr id="175" name="Google Shape;175;p28"/>
          <p:cNvSpPr txBox="1"/>
          <p:nvPr/>
        </p:nvSpPr>
        <p:spPr>
          <a:xfrm>
            <a:off x="330200" y="406400"/>
            <a:ext cx="838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121F2E"/>
                </a:solidFill>
              </a:rPr>
              <a:t>2.1 经纬度：先确认顺序，再做地理位置的补充</a:t>
            </a:r>
            <a:endParaRPr b="1" sz="2300">
              <a:solidFill>
                <a:srgbClr val="121F2E"/>
              </a:solidFill>
            </a:endParaRPr>
          </a:p>
        </p:txBody>
      </p:sp>
      <p:sp>
        <p:nvSpPr>
          <p:cNvPr id="176" name="Google Shape;176;p28"/>
          <p:cNvSpPr/>
          <p:nvPr/>
        </p:nvSpPr>
        <p:spPr>
          <a:xfrm>
            <a:off x="330200" y="889000"/>
            <a:ext cx="812700" cy="38100"/>
          </a:xfrm>
          <a:prstGeom prst="rect">
            <a:avLst/>
          </a:prstGeom>
          <a:solidFill>
            <a:srgbClr val="6E52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77" name="Google Shape;177;p28"/>
          <p:cNvSpPr/>
          <p:nvPr/>
        </p:nvSpPr>
        <p:spPr>
          <a:xfrm>
            <a:off x="330200" y="1168400"/>
            <a:ext cx="2709300" cy="3200400"/>
          </a:xfrm>
          <a:prstGeom prst="roundRect">
            <a:avLst>
              <a:gd fmla="val 16667" name="adj"/>
            </a:avLst>
          </a:prstGeom>
          <a:solidFill>
            <a:srgbClr val="F6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78" name="Google Shape;178;p28"/>
          <p:cNvSpPr txBox="1"/>
          <p:nvPr/>
        </p:nvSpPr>
        <p:spPr>
          <a:xfrm>
            <a:off x="533400" y="1371600"/>
            <a:ext cx="23028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6E52C2"/>
                </a:solidFill>
              </a:rPr>
              <a:t>解析逻辑</a:t>
            </a:r>
            <a:endParaRPr b="1" sz="1500">
              <a:solidFill>
                <a:srgbClr val="6E52C2"/>
              </a:solidFill>
            </a:endParaRPr>
          </a:p>
        </p:txBody>
      </p:sp>
      <p:sp>
        <p:nvSpPr>
          <p:cNvPr id="179" name="Google Shape;179;p28"/>
          <p:cNvSpPr txBox="1"/>
          <p:nvPr/>
        </p:nvSpPr>
        <p:spPr>
          <a:xfrm>
            <a:off x="533400" y="1841500"/>
            <a:ext cx="2302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原 lat_long 第一项范围为(95.28～145.60)；第二项为(−10.74～45.41)纬度合法范围为（−90～90），因此经纬度应顺序翻转。</a:t>
            </a:r>
            <a:endParaRPr sz="1220">
              <a:solidFill>
                <a:srgbClr val="121F2E"/>
              </a:solidFill>
            </a:endParaRPr>
          </a:p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保留原值以备用。</a:t>
            </a:r>
            <a:endParaRPr sz="1220">
              <a:solidFill>
                <a:srgbClr val="121F2E"/>
              </a:solidFill>
            </a:endParaRPr>
          </a:p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从经纬度获取用户洲、国家、城市、时区信息。</a:t>
            </a:r>
            <a:endParaRPr sz="1220">
              <a:solidFill>
                <a:srgbClr val="121F2E"/>
              </a:solidFill>
            </a:endParaRPr>
          </a:p>
        </p:txBody>
      </p:sp>
      <p:sp>
        <p:nvSpPr>
          <p:cNvPr id="180" name="Google Shape;180;p28"/>
          <p:cNvSpPr/>
          <p:nvPr/>
        </p:nvSpPr>
        <p:spPr>
          <a:xfrm>
            <a:off x="3217333" y="1168400"/>
            <a:ext cx="2709300" cy="3200400"/>
          </a:xfrm>
          <a:prstGeom prst="roundRect">
            <a:avLst>
              <a:gd fmla="val 16667" name="adj"/>
            </a:avLst>
          </a:prstGeom>
          <a:solidFill>
            <a:srgbClr val="F6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81" name="Google Shape;181;p28"/>
          <p:cNvSpPr txBox="1"/>
          <p:nvPr/>
        </p:nvSpPr>
        <p:spPr>
          <a:xfrm>
            <a:off x="3420533" y="1371600"/>
            <a:ext cx="23028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6E52C2"/>
                </a:solidFill>
              </a:rPr>
              <a:t>新增字段</a:t>
            </a:r>
            <a:endParaRPr b="1" sz="1500">
              <a:solidFill>
                <a:srgbClr val="6E52C2"/>
              </a:solidFill>
            </a:endParaRPr>
          </a:p>
        </p:txBody>
      </p:sp>
      <p:sp>
        <p:nvSpPr>
          <p:cNvPr id="182" name="Google Shape;182;p28"/>
          <p:cNvSpPr txBox="1"/>
          <p:nvPr/>
        </p:nvSpPr>
        <p:spPr>
          <a:xfrm>
            <a:off x="3420533" y="1841500"/>
            <a:ext cx="2302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longitude</a:t>
            </a:r>
            <a:endParaRPr sz="1220">
              <a:solidFill>
                <a:srgbClr val="121F2E"/>
              </a:solidFill>
            </a:endParaRPr>
          </a:p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latitude</a:t>
            </a:r>
            <a:endParaRPr sz="1220">
              <a:solidFill>
                <a:srgbClr val="121F2E"/>
              </a:solidFill>
            </a:endParaRPr>
          </a:p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loc_continent_zh / en</a:t>
            </a:r>
            <a:endParaRPr sz="1220">
              <a:solidFill>
                <a:srgbClr val="121F2E"/>
              </a:solidFill>
            </a:endParaRPr>
          </a:p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loc_country_zh / en</a:t>
            </a:r>
            <a:endParaRPr sz="1220">
              <a:solidFill>
                <a:srgbClr val="121F2E"/>
              </a:solidFill>
            </a:endParaRPr>
          </a:p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country_code</a:t>
            </a:r>
            <a:endParaRPr sz="1220">
              <a:solidFill>
                <a:srgbClr val="121F2E"/>
              </a:solidFill>
            </a:endParaRPr>
          </a:p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loc_city_zh / en</a:t>
            </a:r>
            <a:endParaRPr sz="1220">
              <a:solidFill>
                <a:srgbClr val="121F2E"/>
              </a:solidFill>
            </a:endParaRPr>
          </a:p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loc_timezone</a:t>
            </a:r>
            <a:endParaRPr sz="1220">
              <a:solidFill>
                <a:srgbClr val="121F2E"/>
              </a:solidFill>
            </a:endParaRPr>
          </a:p>
        </p:txBody>
      </p:sp>
      <p:sp>
        <p:nvSpPr>
          <p:cNvPr id="183" name="Google Shape;183;p28"/>
          <p:cNvSpPr/>
          <p:nvPr/>
        </p:nvSpPr>
        <p:spPr>
          <a:xfrm>
            <a:off x="6104467" y="1168400"/>
            <a:ext cx="2709300" cy="3200400"/>
          </a:xfrm>
          <a:prstGeom prst="roundRect">
            <a:avLst>
              <a:gd fmla="val 16667" name="adj"/>
            </a:avLst>
          </a:prstGeom>
          <a:solidFill>
            <a:srgbClr val="F6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84" name="Google Shape;184;p28"/>
          <p:cNvSpPr txBox="1"/>
          <p:nvPr/>
        </p:nvSpPr>
        <p:spPr>
          <a:xfrm>
            <a:off x="6307667" y="1371600"/>
            <a:ext cx="23028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6E52C2"/>
                </a:solidFill>
              </a:rPr>
              <a:t>匹配与验证</a:t>
            </a:r>
            <a:endParaRPr b="1" sz="1500">
              <a:solidFill>
                <a:srgbClr val="6E52C2"/>
              </a:solidFill>
            </a:endParaRPr>
          </a:p>
        </p:txBody>
      </p:sp>
      <p:sp>
        <p:nvSpPr>
          <p:cNvPr id="185" name="Google Shape;185;p28"/>
          <p:cNvSpPr txBox="1"/>
          <p:nvPr/>
        </p:nvSpPr>
        <p:spPr>
          <a:xfrm>
            <a:off x="6307667" y="1841500"/>
            <a:ext cx="2302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国家采用点落入的国家；</a:t>
            </a:r>
            <a:r>
              <a:rPr lang="en" sz="1200">
                <a:solidFill>
                  <a:srgbClr val="121F2E"/>
                </a:solidFill>
              </a:rPr>
              <a:t>城市采用同国 50 km 内最近相邻的城市。</a:t>
            </a:r>
            <a:endParaRPr sz="1200">
              <a:solidFill>
                <a:srgbClr val="121F2E"/>
              </a:solidFill>
            </a:endParaRPr>
          </a:p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坐标国家匹配 98,774 条（98.77%）</a:t>
            </a:r>
            <a:endParaRPr sz="1220">
              <a:solidFill>
                <a:srgbClr val="121F2E"/>
              </a:solidFill>
            </a:endParaRPr>
          </a:p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时区匹配 99,997 条</a:t>
            </a:r>
            <a:endParaRPr sz="1220">
              <a:solidFill>
                <a:srgbClr val="121F2E"/>
              </a:solidFill>
            </a:endParaRPr>
          </a:p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1,226 条国家未知。</a:t>
            </a:r>
            <a:endParaRPr sz="1220">
              <a:solidFill>
                <a:srgbClr val="121F2E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9"/>
          <p:cNvSpPr txBox="1"/>
          <p:nvPr/>
        </p:nvSpPr>
        <p:spPr>
          <a:xfrm>
            <a:off x="330200" y="190500"/>
            <a:ext cx="1592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50">
                <a:solidFill>
                  <a:srgbClr val="6E52C2"/>
                </a:solidFill>
              </a:rPr>
              <a:t>02 数据扩充与特征工程</a:t>
            </a:r>
            <a:endParaRPr b="1" sz="850">
              <a:solidFill>
                <a:srgbClr val="6E52C2"/>
              </a:solidFill>
            </a:endParaRPr>
          </a:p>
        </p:txBody>
      </p:sp>
      <p:sp>
        <p:nvSpPr>
          <p:cNvPr id="191" name="Google Shape;191;p29"/>
          <p:cNvSpPr txBox="1"/>
          <p:nvPr/>
        </p:nvSpPr>
        <p:spPr>
          <a:xfrm>
            <a:off x="330200" y="406400"/>
            <a:ext cx="838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121F2E"/>
                </a:solidFill>
              </a:rPr>
              <a:t>2.2 Timestamp：从 UTC 转换为当地时间</a:t>
            </a:r>
            <a:endParaRPr b="1" sz="2300">
              <a:solidFill>
                <a:srgbClr val="121F2E"/>
              </a:solidFill>
            </a:endParaRPr>
          </a:p>
        </p:txBody>
      </p:sp>
      <p:sp>
        <p:nvSpPr>
          <p:cNvPr id="192" name="Google Shape;192;p29"/>
          <p:cNvSpPr/>
          <p:nvPr/>
        </p:nvSpPr>
        <p:spPr>
          <a:xfrm>
            <a:off x="330200" y="889000"/>
            <a:ext cx="812700" cy="38100"/>
          </a:xfrm>
          <a:prstGeom prst="rect">
            <a:avLst/>
          </a:prstGeom>
          <a:solidFill>
            <a:srgbClr val="6E52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93" name="Google Shape;193;p29"/>
          <p:cNvSpPr/>
          <p:nvPr/>
        </p:nvSpPr>
        <p:spPr>
          <a:xfrm>
            <a:off x="330200" y="1168400"/>
            <a:ext cx="2709300" cy="3200400"/>
          </a:xfrm>
          <a:prstGeom prst="roundRect">
            <a:avLst>
              <a:gd fmla="val 16667" name="adj"/>
            </a:avLst>
          </a:prstGeom>
          <a:solidFill>
            <a:srgbClr val="F6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94" name="Google Shape;194;p29"/>
          <p:cNvSpPr txBox="1"/>
          <p:nvPr/>
        </p:nvSpPr>
        <p:spPr>
          <a:xfrm>
            <a:off x="533400" y="1371600"/>
            <a:ext cx="23028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6E52C2"/>
                </a:solidFill>
              </a:rPr>
              <a:t>解析逻辑</a:t>
            </a:r>
            <a:endParaRPr b="1" sz="1500">
              <a:solidFill>
                <a:srgbClr val="6E52C2"/>
              </a:solidFill>
            </a:endParaRPr>
          </a:p>
        </p:txBody>
      </p:sp>
      <p:sp>
        <p:nvSpPr>
          <p:cNvPr id="195" name="Google Shape;195;p29"/>
          <p:cNvSpPr txBox="1"/>
          <p:nvPr/>
        </p:nvSpPr>
        <p:spPr>
          <a:xfrm>
            <a:off x="533400" y="1841500"/>
            <a:ext cx="2302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20">
                <a:solidFill>
                  <a:srgbClr val="121F2E"/>
                </a:solidFill>
              </a:rPr>
              <a:t>所有timestamp字段的值都以Z结尾，Z 表示 UTC+0，但是不同用户可能所处不同地区，应考虑时区问题，因此</a:t>
            </a:r>
            <a:r>
              <a:rPr lang="en" sz="1220">
                <a:solidFill>
                  <a:srgbClr val="121F2E"/>
                </a:solidFill>
              </a:rPr>
              <a:t>通过 loc_timezone来获取当地时间。</a:t>
            </a:r>
            <a:endParaRPr sz="1220">
              <a:solidFill>
                <a:srgbClr val="121F2E"/>
              </a:solidFill>
            </a:endParaRPr>
          </a:p>
        </p:txBody>
      </p:sp>
      <p:sp>
        <p:nvSpPr>
          <p:cNvPr id="196" name="Google Shape;196;p29"/>
          <p:cNvSpPr/>
          <p:nvPr/>
        </p:nvSpPr>
        <p:spPr>
          <a:xfrm>
            <a:off x="3217333" y="1168400"/>
            <a:ext cx="2709300" cy="3200400"/>
          </a:xfrm>
          <a:prstGeom prst="roundRect">
            <a:avLst>
              <a:gd fmla="val 16667" name="adj"/>
            </a:avLst>
          </a:prstGeom>
          <a:solidFill>
            <a:srgbClr val="F6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97" name="Google Shape;197;p29"/>
          <p:cNvSpPr txBox="1"/>
          <p:nvPr/>
        </p:nvSpPr>
        <p:spPr>
          <a:xfrm>
            <a:off x="3420533" y="1371600"/>
            <a:ext cx="23028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6E52C2"/>
                </a:solidFill>
              </a:rPr>
              <a:t>新增字段</a:t>
            </a:r>
            <a:endParaRPr b="1" sz="1500">
              <a:solidFill>
                <a:srgbClr val="6E52C2"/>
              </a:solidFill>
            </a:endParaRPr>
          </a:p>
        </p:txBody>
      </p:sp>
      <p:sp>
        <p:nvSpPr>
          <p:cNvPr id="198" name="Google Shape;198;p29"/>
          <p:cNvSpPr txBox="1"/>
          <p:nvPr/>
        </p:nvSpPr>
        <p:spPr>
          <a:xfrm>
            <a:off x="3420533" y="1841500"/>
            <a:ext cx="2302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Timestamp_utc</a:t>
            </a:r>
            <a:endParaRPr sz="1220">
              <a:solidFill>
                <a:srgbClr val="121F2E"/>
              </a:solidFill>
            </a:endParaRPr>
          </a:p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date </a:t>
            </a:r>
            <a:endParaRPr sz="1220">
              <a:solidFill>
                <a:srgbClr val="121F2E"/>
              </a:solidFill>
            </a:endParaRPr>
          </a:p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hour</a:t>
            </a:r>
            <a:endParaRPr sz="1220">
              <a:solidFill>
                <a:srgbClr val="121F2E"/>
              </a:solidFill>
            </a:endParaRPr>
          </a:p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weekday</a:t>
            </a:r>
            <a:endParaRPr sz="1220">
              <a:solidFill>
                <a:srgbClr val="121F2E"/>
              </a:solidFill>
            </a:endParaRPr>
          </a:p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Is_holiday</a:t>
            </a:r>
            <a:endParaRPr sz="1220">
              <a:solidFill>
                <a:srgbClr val="121F2E"/>
              </a:solidFill>
            </a:endParaRPr>
          </a:p>
        </p:txBody>
      </p:sp>
      <p:sp>
        <p:nvSpPr>
          <p:cNvPr id="199" name="Google Shape;199;p29"/>
          <p:cNvSpPr/>
          <p:nvPr/>
        </p:nvSpPr>
        <p:spPr>
          <a:xfrm>
            <a:off x="6104467" y="1168400"/>
            <a:ext cx="2709300" cy="3200400"/>
          </a:xfrm>
          <a:prstGeom prst="roundRect">
            <a:avLst>
              <a:gd fmla="val 16667" name="adj"/>
            </a:avLst>
          </a:prstGeom>
          <a:solidFill>
            <a:srgbClr val="F6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00" name="Google Shape;200;p29"/>
          <p:cNvSpPr txBox="1"/>
          <p:nvPr/>
        </p:nvSpPr>
        <p:spPr>
          <a:xfrm>
            <a:off x="6307667" y="1371600"/>
            <a:ext cx="23028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6E52C2"/>
                </a:solidFill>
              </a:rPr>
              <a:t>比较口径</a:t>
            </a:r>
            <a:endParaRPr b="1" sz="1500">
              <a:solidFill>
                <a:srgbClr val="6E52C2"/>
              </a:solidFill>
            </a:endParaRPr>
          </a:p>
        </p:txBody>
      </p:sp>
      <p:sp>
        <p:nvSpPr>
          <p:cNvPr id="201" name="Google Shape;201;p29"/>
          <p:cNvSpPr txBox="1"/>
          <p:nvPr/>
        </p:nvSpPr>
        <p:spPr>
          <a:xfrm>
            <a:off x="6307667" y="1841500"/>
            <a:ext cx="2302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跨市场时段比较一律使用当地时间</a:t>
            </a:r>
            <a:endParaRPr sz="1220">
              <a:solidFill>
                <a:srgbClr val="121F2E"/>
              </a:solidFill>
            </a:endParaRPr>
          </a:p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首尾当地日期可能只覆盖部分小时，单独标记</a:t>
            </a:r>
            <a:endParaRPr sz="1220">
              <a:solidFill>
                <a:srgbClr val="121F2E"/>
              </a:solidFill>
            </a:endParaRPr>
          </a:p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节日与同市场、同星期几的非节日比较</a:t>
            </a:r>
            <a:endParaRPr sz="1220">
              <a:solidFill>
                <a:srgbClr val="121F2E"/>
              </a:solidFill>
            </a:endParaRPr>
          </a:p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同时报告均值、中位数与样本量</a:t>
            </a:r>
            <a:endParaRPr sz="1220">
              <a:solidFill>
                <a:srgbClr val="121F2E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0"/>
          <p:cNvSpPr txBox="1"/>
          <p:nvPr/>
        </p:nvSpPr>
        <p:spPr>
          <a:xfrm>
            <a:off x="330200" y="190500"/>
            <a:ext cx="184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50">
                <a:solidFill>
                  <a:srgbClr val="6E52C2"/>
                </a:solidFill>
              </a:rPr>
              <a:t>02 数据扩充与特征工程</a:t>
            </a:r>
            <a:endParaRPr b="1" sz="850">
              <a:solidFill>
                <a:srgbClr val="6E52C2"/>
              </a:solidFill>
            </a:endParaRPr>
          </a:p>
        </p:txBody>
      </p:sp>
      <p:sp>
        <p:nvSpPr>
          <p:cNvPr id="207" name="Google Shape;207;p30"/>
          <p:cNvSpPr txBox="1"/>
          <p:nvPr/>
        </p:nvSpPr>
        <p:spPr>
          <a:xfrm>
            <a:off x="330200" y="406400"/>
            <a:ext cx="838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121F2E"/>
                </a:solidFill>
              </a:rPr>
              <a:t>2.3 IP：类型、历史国家与 ASN</a:t>
            </a:r>
            <a:endParaRPr b="1" sz="2300">
              <a:solidFill>
                <a:srgbClr val="121F2E"/>
              </a:solidFill>
            </a:endParaRPr>
          </a:p>
        </p:txBody>
      </p:sp>
      <p:sp>
        <p:nvSpPr>
          <p:cNvPr id="208" name="Google Shape;208;p30"/>
          <p:cNvSpPr/>
          <p:nvPr/>
        </p:nvSpPr>
        <p:spPr>
          <a:xfrm>
            <a:off x="330200" y="889000"/>
            <a:ext cx="812700" cy="38100"/>
          </a:xfrm>
          <a:prstGeom prst="rect">
            <a:avLst/>
          </a:prstGeom>
          <a:solidFill>
            <a:srgbClr val="6E52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09" name="Google Shape;209;p30"/>
          <p:cNvSpPr/>
          <p:nvPr/>
        </p:nvSpPr>
        <p:spPr>
          <a:xfrm>
            <a:off x="330200" y="1168400"/>
            <a:ext cx="2709300" cy="3200400"/>
          </a:xfrm>
          <a:prstGeom prst="roundRect">
            <a:avLst>
              <a:gd fmla="val 16667" name="adj"/>
            </a:avLst>
          </a:prstGeom>
          <a:solidFill>
            <a:srgbClr val="F6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10" name="Google Shape;210;p30"/>
          <p:cNvSpPr txBox="1"/>
          <p:nvPr/>
        </p:nvSpPr>
        <p:spPr>
          <a:xfrm>
            <a:off x="533400" y="1371600"/>
            <a:ext cx="23028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6E52C2"/>
                </a:solidFill>
              </a:rPr>
              <a:t>解析逻辑</a:t>
            </a:r>
            <a:endParaRPr b="1" sz="1500">
              <a:solidFill>
                <a:srgbClr val="6E52C2"/>
              </a:solidFill>
            </a:endParaRPr>
          </a:p>
        </p:txBody>
      </p:sp>
      <p:sp>
        <p:nvSpPr>
          <p:cNvPr id="211" name="Google Shape;211;p30"/>
          <p:cNvSpPr txBox="1"/>
          <p:nvPr/>
        </p:nvSpPr>
        <p:spPr>
          <a:xfrm>
            <a:off x="533400" y="1841500"/>
            <a:ext cx="2302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识别 IPv4 / IPv6 </a:t>
            </a:r>
            <a:endParaRPr sz="1220">
              <a:solidFill>
                <a:srgbClr val="121F2E"/>
              </a:solidFill>
            </a:endParaRPr>
          </a:p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按 Python ipaddress库 标记 global、private、reserved、multicast、loopback、link_local、unspecified</a:t>
            </a:r>
            <a:endParaRPr sz="1220">
              <a:solidFill>
                <a:srgbClr val="121F2E"/>
              </a:solidFill>
            </a:endParaRPr>
          </a:p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从IP地址获取国家与ASN信息。国家：DB-IP 2022-12-02历史快照； ASN：CAIDA 2022-12-15 Prefix-to-AS；采用最长前缀匹配</a:t>
            </a:r>
            <a:endParaRPr sz="1220">
              <a:solidFill>
                <a:srgbClr val="121F2E"/>
              </a:solidFill>
            </a:endParaRPr>
          </a:p>
        </p:txBody>
      </p:sp>
      <p:sp>
        <p:nvSpPr>
          <p:cNvPr id="212" name="Google Shape;212;p30"/>
          <p:cNvSpPr/>
          <p:nvPr/>
        </p:nvSpPr>
        <p:spPr>
          <a:xfrm>
            <a:off x="3217333" y="1168400"/>
            <a:ext cx="2709300" cy="3200400"/>
          </a:xfrm>
          <a:prstGeom prst="roundRect">
            <a:avLst>
              <a:gd fmla="val 16667" name="adj"/>
            </a:avLst>
          </a:prstGeom>
          <a:solidFill>
            <a:srgbClr val="F6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13" name="Google Shape;213;p30"/>
          <p:cNvSpPr txBox="1"/>
          <p:nvPr/>
        </p:nvSpPr>
        <p:spPr>
          <a:xfrm>
            <a:off x="3420525" y="1371600"/>
            <a:ext cx="27093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6E52C2"/>
                </a:solidFill>
              </a:rPr>
              <a:t>新增字段</a:t>
            </a:r>
            <a:endParaRPr b="1" sz="1500">
              <a:solidFill>
                <a:srgbClr val="6E52C2"/>
              </a:solidFill>
            </a:endParaRPr>
          </a:p>
        </p:txBody>
      </p:sp>
      <p:sp>
        <p:nvSpPr>
          <p:cNvPr id="214" name="Google Shape;214;p30"/>
          <p:cNvSpPr txBox="1"/>
          <p:nvPr/>
        </p:nvSpPr>
        <p:spPr>
          <a:xfrm>
            <a:off x="3420533" y="1841500"/>
            <a:ext cx="2302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Ip_version</a:t>
            </a:r>
            <a:endParaRPr sz="1220">
              <a:solidFill>
                <a:srgbClr val="121F2E"/>
              </a:solidFill>
            </a:endParaRPr>
          </a:p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Ip_is_global</a:t>
            </a:r>
            <a:endParaRPr sz="1220">
              <a:solidFill>
                <a:srgbClr val="121F2E"/>
              </a:solidFill>
            </a:endParaRPr>
          </a:p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Ip_is_private</a:t>
            </a:r>
            <a:endParaRPr sz="1220">
              <a:solidFill>
                <a:srgbClr val="121F2E"/>
              </a:solidFill>
            </a:endParaRPr>
          </a:p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Ip_is_reserved</a:t>
            </a:r>
            <a:endParaRPr sz="1220">
              <a:solidFill>
                <a:srgbClr val="121F2E"/>
              </a:solidFill>
            </a:endParaRPr>
          </a:p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Ip_is_multicast</a:t>
            </a:r>
            <a:endParaRPr sz="1220">
              <a:solidFill>
                <a:srgbClr val="121F2E"/>
              </a:solidFill>
            </a:endParaRPr>
          </a:p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Ip_is_loopback</a:t>
            </a:r>
            <a:endParaRPr sz="1220">
              <a:solidFill>
                <a:srgbClr val="121F2E"/>
              </a:solidFill>
            </a:endParaRPr>
          </a:p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Ip_is_link_local</a:t>
            </a:r>
            <a:endParaRPr sz="1220">
              <a:solidFill>
                <a:srgbClr val="121F2E"/>
              </a:solidFill>
            </a:endParaRPr>
          </a:p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Ip_is_unspecified</a:t>
            </a:r>
            <a:endParaRPr sz="1220">
              <a:solidFill>
                <a:srgbClr val="121F2E"/>
              </a:solidFill>
            </a:endParaRPr>
          </a:p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is_country_en/zh</a:t>
            </a:r>
            <a:endParaRPr sz="1220">
              <a:solidFill>
                <a:srgbClr val="121F2E"/>
              </a:solidFill>
            </a:endParaRPr>
          </a:p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Ip_asn</a:t>
            </a:r>
            <a:endParaRPr sz="1220">
              <a:solidFill>
                <a:srgbClr val="121F2E"/>
              </a:solidFill>
            </a:endParaRPr>
          </a:p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Ip_asn_name</a:t>
            </a:r>
            <a:endParaRPr sz="1220">
              <a:solidFill>
                <a:srgbClr val="121F2E"/>
              </a:solidFill>
            </a:endParaRPr>
          </a:p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ip_asn_orgnization</a:t>
            </a:r>
            <a:endParaRPr sz="1220">
              <a:solidFill>
                <a:srgbClr val="121F2E"/>
              </a:solidFill>
            </a:endParaRPr>
          </a:p>
        </p:txBody>
      </p:sp>
      <p:sp>
        <p:nvSpPr>
          <p:cNvPr id="215" name="Google Shape;215;p30"/>
          <p:cNvSpPr/>
          <p:nvPr/>
        </p:nvSpPr>
        <p:spPr>
          <a:xfrm>
            <a:off x="6104467" y="1168400"/>
            <a:ext cx="2709300" cy="3200400"/>
          </a:xfrm>
          <a:prstGeom prst="roundRect">
            <a:avLst>
              <a:gd fmla="val 16667" name="adj"/>
            </a:avLst>
          </a:prstGeom>
          <a:solidFill>
            <a:srgbClr val="F6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16" name="Google Shape;216;p30"/>
          <p:cNvSpPr txBox="1"/>
          <p:nvPr/>
        </p:nvSpPr>
        <p:spPr>
          <a:xfrm>
            <a:off x="6307667" y="1371600"/>
            <a:ext cx="23028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6E52C2"/>
                </a:solidFill>
              </a:rPr>
              <a:t>匹配与验证</a:t>
            </a:r>
            <a:endParaRPr b="1" sz="1500">
              <a:solidFill>
                <a:srgbClr val="6E52C2"/>
              </a:solidFill>
            </a:endParaRPr>
          </a:p>
        </p:txBody>
      </p:sp>
      <p:sp>
        <p:nvSpPr>
          <p:cNvPr id="217" name="Google Shape;217;p30"/>
          <p:cNvSpPr txBox="1"/>
          <p:nvPr/>
        </p:nvSpPr>
        <p:spPr>
          <a:xfrm>
            <a:off x="6307667" y="1841500"/>
            <a:ext cx="2302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仅对公网单播候选做国家与 ASN 匹配</a:t>
            </a:r>
            <a:endParaRPr sz="1220">
              <a:solidFill>
                <a:srgbClr val="121F2E"/>
              </a:solidFill>
            </a:endParaRPr>
          </a:p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国家匹配 45,773 条</a:t>
            </a:r>
            <a:endParaRPr sz="1220">
              <a:solidFill>
                <a:srgbClr val="121F2E"/>
              </a:solidFill>
            </a:endParaRPr>
          </a:p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ASN 匹配 35,289 条</a:t>
            </a:r>
            <a:endParaRPr sz="1220">
              <a:solidFill>
                <a:srgbClr val="121F2E"/>
              </a:solidFill>
            </a:endParaRPr>
          </a:p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未匹配值可能来自特殊地址、库覆盖或路由差异</a:t>
            </a:r>
            <a:endParaRPr sz="1220">
              <a:solidFill>
                <a:srgbClr val="121F2E"/>
              </a:solidFill>
            </a:endParaRPr>
          </a:p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IP 地址所处国家与经纬度所处国家交叉验证</a:t>
            </a:r>
            <a:endParaRPr sz="1220">
              <a:solidFill>
                <a:srgbClr val="121F2E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1"/>
          <p:cNvSpPr txBox="1"/>
          <p:nvPr/>
        </p:nvSpPr>
        <p:spPr>
          <a:xfrm>
            <a:off x="330200" y="190500"/>
            <a:ext cx="1882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50">
                <a:solidFill>
                  <a:srgbClr val="6E52C2"/>
                </a:solidFill>
              </a:rPr>
              <a:t>02 数据扩充与特征工程</a:t>
            </a:r>
            <a:endParaRPr b="1" sz="850">
              <a:solidFill>
                <a:srgbClr val="6E52C2"/>
              </a:solidFill>
            </a:endParaRPr>
          </a:p>
        </p:txBody>
      </p:sp>
      <p:sp>
        <p:nvSpPr>
          <p:cNvPr id="223" name="Google Shape;223;p31"/>
          <p:cNvSpPr txBox="1"/>
          <p:nvPr/>
        </p:nvSpPr>
        <p:spPr>
          <a:xfrm>
            <a:off x="330200" y="406400"/>
            <a:ext cx="838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121F2E"/>
                </a:solidFill>
              </a:rPr>
              <a:t>2.4 User Agent：拆解设备与访问环境</a:t>
            </a:r>
            <a:endParaRPr b="1" sz="2300">
              <a:solidFill>
                <a:srgbClr val="121F2E"/>
              </a:solidFill>
            </a:endParaRPr>
          </a:p>
        </p:txBody>
      </p:sp>
      <p:sp>
        <p:nvSpPr>
          <p:cNvPr id="224" name="Google Shape;224;p31"/>
          <p:cNvSpPr/>
          <p:nvPr/>
        </p:nvSpPr>
        <p:spPr>
          <a:xfrm>
            <a:off x="330200" y="889000"/>
            <a:ext cx="812700" cy="38100"/>
          </a:xfrm>
          <a:prstGeom prst="rect">
            <a:avLst/>
          </a:prstGeom>
          <a:solidFill>
            <a:srgbClr val="6E52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25" name="Google Shape;225;p31"/>
          <p:cNvSpPr/>
          <p:nvPr/>
        </p:nvSpPr>
        <p:spPr>
          <a:xfrm>
            <a:off x="330200" y="1168400"/>
            <a:ext cx="2709300" cy="3200400"/>
          </a:xfrm>
          <a:prstGeom prst="roundRect">
            <a:avLst>
              <a:gd fmla="val 16667" name="adj"/>
            </a:avLst>
          </a:prstGeom>
          <a:solidFill>
            <a:srgbClr val="F6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26" name="Google Shape;226;p31"/>
          <p:cNvSpPr txBox="1"/>
          <p:nvPr/>
        </p:nvSpPr>
        <p:spPr>
          <a:xfrm>
            <a:off x="533400" y="1371600"/>
            <a:ext cx="23028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6E52C2"/>
                </a:solidFill>
              </a:rPr>
              <a:t>解析逻辑</a:t>
            </a:r>
            <a:endParaRPr b="1" sz="1500">
              <a:solidFill>
                <a:srgbClr val="6E52C2"/>
              </a:solidFill>
            </a:endParaRPr>
          </a:p>
        </p:txBody>
      </p:sp>
      <p:sp>
        <p:nvSpPr>
          <p:cNvPr id="227" name="Google Shape;227;p31"/>
          <p:cNvSpPr txBox="1"/>
          <p:nvPr/>
        </p:nvSpPr>
        <p:spPr>
          <a:xfrm>
            <a:off x="533400" y="1841500"/>
            <a:ext cx="2302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解析 os、os_version、device_model、device_brand</a:t>
            </a:r>
            <a:endParaRPr sz="1220">
              <a:solidFill>
                <a:srgbClr val="121F2E"/>
              </a:solidFill>
            </a:endParaRPr>
          </a:p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识别浏览器内核和移动端标记</a:t>
            </a:r>
            <a:endParaRPr sz="1220">
              <a:solidFill>
                <a:srgbClr val="121F2E"/>
              </a:solidFill>
            </a:endParaRPr>
          </a:p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无法解析时保留 unresolved</a:t>
            </a:r>
            <a:endParaRPr sz="1220">
              <a:solidFill>
                <a:srgbClr val="121F2E"/>
              </a:solidFill>
            </a:endParaRPr>
          </a:p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Android UA 中的 wv 和Dalvik 标识常见于 App 内请求，可以判断是否由app端访问</a:t>
            </a:r>
            <a:endParaRPr sz="1220">
              <a:solidFill>
                <a:srgbClr val="121F2E"/>
              </a:solidFill>
            </a:endParaRPr>
          </a:p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20">
              <a:solidFill>
                <a:srgbClr val="121F2E"/>
              </a:solidFill>
            </a:endParaRPr>
          </a:p>
        </p:txBody>
      </p:sp>
      <p:sp>
        <p:nvSpPr>
          <p:cNvPr id="228" name="Google Shape;228;p31"/>
          <p:cNvSpPr/>
          <p:nvPr/>
        </p:nvSpPr>
        <p:spPr>
          <a:xfrm>
            <a:off x="3217333" y="1168400"/>
            <a:ext cx="2709300" cy="3200400"/>
          </a:xfrm>
          <a:prstGeom prst="roundRect">
            <a:avLst>
              <a:gd fmla="val 16667" name="adj"/>
            </a:avLst>
          </a:prstGeom>
          <a:solidFill>
            <a:srgbClr val="F6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29" name="Google Shape;229;p31"/>
          <p:cNvSpPr txBox="1"/>
          <p:nvPr/>
        </p:nvSpPr>
        <p:spPr>
          <a:xfrm>
            <a:off x="3420533" y="1371600"/>
            <a:ext cx="23028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6E52C2"/>
                </a:solidFill>
              </a:rPr>
              <a:t>新增字段</a:t>
            </a:r>
            <a:endParaRPr b="1" sz="1500">
              <a:solidFill>
                <a:srgbClr val="6E52C2"/>
              </a:solidFill>
            </a:endParaRPr>
          </a:p>
        </p:txBody>
      </p:sp>
      <p:sp>
        <p:nvSpPr>
          <p:cNvPr id="230" name="Google Shape;230;p31"/>
          <p:cNvSpPr txBox="1"/>
          <p:nvPr/>
        </p:nvSpPr>
        <p:spPr>
          <a:xfrm>
            <a:off x="3420533" y="1841500"/>
            <a:ext cx="2302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ua_engine</a:t>
            </a:r>
            <a:endParaRPr sz="1220">
              <a:solidFill>
                <a:srgbClr val="121F2E"/>
              </a:solidFill>
            </a:endParaRPr>
          </a:p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os</a:t>
            </a:r>
            <a:endParaRPr sz="1220">
              <a:solidFill>
                <a:srgbClr val="121F2E"/>
              </a:solidFill>
            </a:endParaRPr>
          </a:p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os_version</a:t>
            </a:r>
            <a:endParaRPr sz="1220">
              <a:solidFill>
                <a:srgbClr val="121F2E"/>
              </a:solidFill>
            </a:endParaRPr>
          </a:p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device_brand</a:t>
            </a:r>
            <a:endParaRPr sz="1220">
              <a:solidFill>
                <a:srgbClr val="121F2E"/>
              </a:solidFill>
            </a:endParaRPr>
          </a:p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device_model</a:t>
            </a:r>
            <a:endParaRPr sz="1220">
              <a:solidFill>
                <a:srgbClr val="121F2E"/>
              </a:solidFill>
            </a:endParaRPr>
          </a:p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is_android_app</a:t>
            </a:r>
            <a:endParaRPr sz="1220">
              <a:solidFill>
                <a:srgbClr val="121F2E"/>
              </a:solidFill>
            </a:endParaRPr>
          </a:p>
        </p:txBody>
      </p:sp>
      <p:sp>
        <p:nvSpPr>
          <p:cNvPr id="231" name="Google Shape;231;p31"/>
          <p:cNvSpPr/>
          <p:nvPr/>
        </p:nvSpPr>
        <p:spPr>
          <a:xfrm>
            <a:off x="6104467" y="1168400"/>
            <a:ext cx="2709300" cy="3200400"/>
          </a:xfrm>
          <a:prstGeom prst="roundRect">
            <a:avLst>
              <a:gd fmla="val 16667" name="adj"/>
            </a:avLst>
          </a:prstGeom>
          <a:solidFill>
            <a:srgbClr val="F6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32" name="Google Shape;232;p31"/>
          <p:cNvSpPr txBox="1"/>
          <p:nvPr/>
        </p:nvSpPr>
        <p:spPr>
          <a:xfrm>
            <a:off x="6307667" y="1371600"/>
            <a:ext cx="23028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6E52C2"/>
                </a:solidFill>
              </a:rPr>
              <a:t>匹配与验证</a:t>
            </a:r>
            <a:endParaRPr b="1" sz="1500">
              <a:solidFill>
                <a:srgbClr val="6E52C2"/>
              </a:solidFill>
            </a:endParaRPr>
          </a:p>
        </p:txBody>
      </p:sp>
      <p:sp>
        <p:nvSpPr>
          <p:cNvPr id="233" name="Google Shape;233;p31"/>
          <p:cNvSpPr txBox="1"/>
          <p:nvPr/>
        </p:nvSpPr>
        <p:spPr>
          <a:xfrm>
            <a:off x="6307667" y="1841500"/>
            <a:ext cx="2302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系统及版本：兼容性与投放适配</a:t>
            </a:r>
            <a:endParaRPr sz="1220">
              <a:solidFill>
                <a:srgbClr val="121F2E"/>
              </a:solidFill>
            </a:endParaRPr>
          </a:p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品牌和型号：设备层级与覆盖测试</a:t>
            </a:r>
            <a:endParaRPr sz="1220">
              <a:solidFill>
                <a:srgbClr val="121F2E"/>
              </a:solidFill>
            </a:endParaRPr>
          </a:p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缺失率：上游采集健康度指标</a:t>
            </a:r>
            <a:endParaRPr sz="1220">
              <a:solidFill>
                <a:srgbClr val="121F2E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2"/>
          <p:cNvSpPr txBox="1"/>
          <p:nvPr/>
        </p:nvSpPr>
        <p:spPr>
          <a:xfrm>
            <a:off x="330200" y="190500"/>
            <a:ext cx="1333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50">
                <a:solidFill>
                  <a:srgbClr val="6E52C2"/>
                </a:solidFill>
              </a:rPr>
              <a:t>02 数据扩充与特征工程</a:t>
            </a:r>
            <a:endParaRPr b="1" sz="850">
              <a:solidFill>
                <a:srgbClr val="6E52C2"/>
              </a:solidFill>
            </a:endParaRPr>
          </a:p>
        </p:txBody>
      </p:sp>
      <p:sp>
        <p:nvSpPr>
          <p:cNvPr id="239" name="Google Shape;239;p32"/>
          <p:cNvSpPr txBox="1"/>
          <p:nvPr/>
        </p:nvSpPr>
        <p:spPr>
          <a:xfrm>
            <a:off x="330200" y="406400"/>
            <a:ext cx="838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121F2E"/>
                </a:solidFill>
              </a:rPr>
              <a:t>最终输出38 列字段</a:t>
            </a:r>
            <a:endParaRPr b="1" sz="2300">
              <a:solidFill>
                <a:srgbClr val="121F2E"/>
              </a:solidFill>
            </a:endParaRPr>
          </a:p>
        </p:txBody>
      </p:sp>
      <p:sp>
        <p:nvSpPr>
          <p:cNvPr id="240" name="Google Shape;240;p32"/>
          <p:cNvSpPr/>
          <p:nvPr/>
        </p:nvSpPr>
        <p:spPr>
          <a:xfrm>
            <a:off x="330200" y="889000"/>
            <a:ext cx="812700" cy="38100"/>
          </a:xfrm>
          <a:prstGeom prst="rect">
            <a:avLst/>
          </a:prstGeom>
          <a:solidFill>
            <a:srgbClr val="6E52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241" name="Google Shape;24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4225" y="1048375"/>
            <a:ext cx="2337474" cy="4047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77100" y="1048375"/>
            <a:ext cx="2492895" cy="4047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3"/>
          <p:cNvSpPr txBox="1"/>
          <p:nvPr/>
        </p:nvSpPr>
        <p:spPr>
          <a:xfrm>
            <a:off x="660400" y="1168400"/>
            <a:ext cx="1333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200">
                <a:solidFill>
                  <a:srgbClr val="6E52C2"/>
                </a:solidFill>
              </a:rPr>
              <a:t>03</a:t>
            </a:r>
            <a:endParaRPr b="1" sz="4200">
              <a:solidFill>
                <a:srgbClr val="6E52C2"/>
              </a:solidFill>
            </a:endParaRPr>
          </a:p>
        </p:txBody>
      </p:sp>
      <p:sp>
        <p:nvSpPr>
          <p:cNvPr id="248" name="Google Shape;248;p33"/>
          <p:cNvSpPr txBox="1"/>
          <p:nvPr/>
        </p:nvSpPr>
        <p:spPr>
          <a:xfrm>
            <a:off x="660400" y="2006600"/>
            <a:ext cx="77469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rgbClr val="121F2E"/>
                </a:solidFill>
              </a:rPr>
              <a:t>可视化与分析</a:t>
            </a:r>
            <a:endParaRPr b="1" sz="3100">
              <a:solidFill>
                <a:srgbClr val="121F2E"/>
              </a:solidFill>
            </a:endParaRPr>
          </a:p>
        </p:txBody>
      </p:sp>
      <p:sp>
        <p:nvSpPr>
          <p:cNvPr id="249" name="Google Shape;249;p33"/>
          <p:cNvSpPr/>
          <p:nvPr/>
        </p:nvSpPr>
        <p:spPr>
          <a:xfrm>
            <a:off x="685800" y="2908300"/>
            <a:ext cx="1143000" cy="50700"/>
          </a:xfrm>
          <a:prstGeom prst="rect">
            <a:avLst/>
          </a:prstGeom>
          <a:solidFill>
            <a:srgbClr val="6E52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55" name="Google Shape;255;p34"/>
          <p:cNvSpPr txBox="1"/>
          <p:nvPr/>
        </p:nvSpPr>
        <p:spPr>
          <a:xfrm>
            <a:off x="330200" y="190500"/>
            <a:ext cx="1333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50">
                <a:solidFill>
                  <a:srgbClr val="6E52C2"/>
                </a:solidFill>
              </a:rPr>
              <a:t>03 可视化与分析</a:t>
            </a:r>
            <a:endParaRPr b="1" sz="850">
              <a:solidFill>
                <a:srgbClr val="6E52C2"/>
              </a:solidFill>
            </a:endParaRPr>
          </a:p>
        </p:txBody>
      </p:sp>
      <p:sp>
        <p:nvSpPr>
          <p:cNvPr id="256" name="Google Shape;256;p34"/>
          <p:cNvSpPr txBox="1"/>
          <p:nvPr/>
        </p:nvSpPr>
        <p:spPr>
          <a:xfrm>
            <a:off x="330200" y="406400"/>
            <a:ext cx="838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121F2E"/>
                </a:solidFill>
              </a:rPr>
              <a:t>3.1 经纬度：坐标样本集中在亚洲市场</a:t>
            </a:r>
            <a:endParaRPr b="1" sz="2300">
              <a:solidFill>
                <a:srgbClr val="121F2E"/>
              </a:solidFill>
            </a:endParaRPr>
          </a:p>
        </p:txBody>
      </p:sp>
      <p:sp>
        <p:nvSpPr>
          <p:cNvPr id="257" name="Google Shape;257;p34"/>
          <p:cNvSpPr/>
          <p:nvPr/>
        </p:nvSpPr>
        <p:spPr>
          <a:xfrm>
            <a:off x="330200" y="889000"/>
            <a:ext cx="812700" cy="38100"/>
          </a:xfrm>
          <a:prstGeom prst="rect">
            <a:avLst/>
          </a:prstGeom>
          <a:solidFill>
            <a:srgbClr val="6E52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258" name="Google Shape;25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000" y="992065"/>
            <a:ext cx="6070599" cy="3502269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34"/>
          <p:cNvSpPr/>
          <p:nvPr/>
        </p:nvSpPr>
        <p:spPr>
          <a:xfrm>
            <a:off x="6324600" y="1003300"/>
            <a:ext cx="2603400" cy="1066800"/>
          </a:xfrm>
          <a:prstGeom prst="roundRect">
            <a:avLst>
              <a:gd fmla="val 16667" name="adj"/>
            </a:avLst>
          </a:prstGeom>
          <a:solidFill>
            <a:srgbClr val="F6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60" name="Google Shape;260;p34"/>
          <p:cNvSpPr/>
          <p:nvPr/>
        </p:nvSpPr>
        <p:spPr>
          <a:xfrm>
            <a:off x="6464300" y="1130300"/>
            <a:ext cx="482700" cy="228600"/>
          </a:xfrm>
          <a:prstGeom prst="roundRect">
            <a:avLst>
              <a:gd fmla="val 16667" name="adj"/>
            </a:avLst>
          </a:prstGeom>
          <a:solidFill>
            <a:srgbClr val="3D7A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61" name="Google Shape;261;p34"/>
          <p:cNvSpPr txBox="1"/>
          <p:nvPr/>
        </p:nvSpPr>
        <p:spPr>
          <a:xfrm>
            <a:off x="6464300" y="1130300"/>
            <a:ext cx="482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rgbClr val="FFFFFF"/>
                </a:solidFill>
              </a:rPr>
              <a:t>分析</a:t>
            </a:r>
            <a:endParaRPr b="1" sz="950">
              <a:solidFill>
                <a:srgbClr val="FFFFFF"/>
              </a:solidFill>
            </a:endParaRPr>
          </a:p>
        </p:txBody>
      </p:sp>
      <p:sp>
        <p:nvSpPr>
          <p:cNvPr id="262" name="Google Shape;262;p34"/>
          <p:cNvSpPr txBox="1"/>
          <p:nvPr/>
        </p:nvSpPr>
        <p:spPr>
          <a:xfrm>
            <a:off x="6464300" y="1435100"/>
            <a:ext cx="231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70">
                <a:solidFill>
                  <a:srgbClr val="121F2E"/>
                </a:solidFill>
              </a:rPr>
              <a:t>坐标国家匹配 98,774 条。日本占 30.05%，印尼占 29.77%，两者合计 59.82%。</a:t>
            </a:r>
            <a:endParaRPr sz="970">
              <a:solidFill>
                <a:srgbClr val="121F2E"/>
              </a:solidFill>
            </a:endParaRPr>
          </a:p>
        </p:txBody>
      </p:sp>
      <p:sp>
        <p:nvSpPr>
          <p:cNvPr id="263" name="Google Shape;263;p34"/>
          <p:cNvSpPr/>
          <p:nvPr/>
        </p:nvSpPr>
        <p:spPr>
          <a:xfrm>
            <a:off x="6324600" y="2171700"/>
            <a:ext cx="2603400" cy="1066800"/>
          </a:xfrm>
          <a:prstGeom prst="roundRect">
            <a:avLst>
              <a:gd fmla="val 16667" name="adj"/>
            </a:avLst>
          </a:prstGeom>
          <a:solidFill>
            <a:srgbClr val="F6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64" name="Google Shape;264;p34"/>
          <p:cNvSpPr/>
          <p:nvPr/>
        </p:nvSpPr>
        <p:spPr>
          <a:xfrm>
            <a:off x="6464300" y="2298700"/>
            <a:ext cx="482700" cy="228600"/>
          </a:xfrm>
          <a:prstGeom prst="roundRect">
            <a:avLst>
              <a:gd fmla="val 16667" name="adj"/>
            </a:avLst>
          </a:prstGeom>
          <a:solidFill>
            <a:srgbClr val="6E52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65" name="Google Shape;265;p34"/>
          <p:cNvSpPr txBox="1"/>
          <p:nvPr/>
        </p:nvSpPr>
        <p:spPr>
          <a:xfrm>
            <a:off x="6464300" y="2298700"/>
            <a:ext cx="482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rgbClr val="FFFFFF"/>
                </a:solidFill>
              </a:rPr>
              <a:t>结论</a:t>
            </a:r>
            <a:endParaRPr b="1" sz="950">
              <a:solidFill>
                <a:srgbClr val="FFFFFF"/>
              </a:solidFill>
            </a:endParaRPr>
          </a:p>
        </p:txBody>
      </p:sp>
      <p:sp>
        <p:nvSpPr>
          <p:cNvPr id="266" name="Google Shape;266;p34"/>
          <p:cNvSpPr txBox="1"/>
          <p:nvPr/>
        </p:nvSpPr>
        <p:spPr>
          <a:xfrm>
            <a:off x="6464300" y="2603500"/>
            <a:ext cx="231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70">
                <a:solidFill>
                  <a:srgbClr val="121F2E"/>
                </a:solidFill>
              </a:rPr>
              <a:t>这份</a:t>
            </a:r>
            <a:r>
              <a:rPr lang="en" sz="970">
                <a:solidFill>
                  <a:srgbClr val="121F2E"/>
                </a:solidFill>
              </a:rPr>
              <a:t>数据明显大部分由东亚与东南亚的用户组成；整体统计主要由日本和印尼决定。</a:t>
            </a:r>
            <a:endParaRPr sz="970">
              <a:solidFill>
                <a:srgbClr val="121F2E"/>
              </a:solidFill>
            </a:endParaRPr>
          </a:p>
        </p:txBody>
      </p:sp>
      <p:sp>
        <p:nvSpPr>
          <p:cNvPr id="267" name="Google Shape;267;p34"/>
          <p:cNvSpPr/>
          <p:nvPr/>
        </p:nvSpPr>
        <p:spPr>
          <a:xfrm>
            <a:off x="6324600" y="3340100"/>
            <a:ext cx="2603400" cy="1066800"/>
          </a:xfrm>
          <a:prstGeom prst="roundRect">
            <a:avLst>
              <a:gd fmla="val 16667" name="adj"/>
            </a:avLst>
          </a:prstGeom>
          <a:solidFill>
            <a:srgbClr val="F6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68" name="Google Shape;268;p34"/>
          <p:cNvSpPr/>
          <p:nvPr/>
        </p:nvSpPr>
        <p:spPr>
          <a:xfrm>
            <a:off x="6464300" y="3467100"/>
            <a:ext cx="482700" cy="228600"/>
          </a:xfrm>
          <a:prstGeom prst="roundRect">
            <a:avLst>
              <a:gd fmla="val 16667" name="adj"/>
            </a:avLst>
          </a:prstGeom>
          <a:solidFill>
            <a:srgbClr val="1C85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69" name="Google Shape;269;p34"/>
          <p:cNvSpPr txBox="1"/>
          <p:nvPr/>
        </p:nvSpPr>
        <p:spPr>
          <a:xfrm>
            <a:off x="6464300" y="3467100"/>
            <a:ext cx="482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rgbClr val="FFFFFF"/>
                </a:solidFill>
              </a:rPr>
              <a:t>建议</a:t>
            </a:r>
            <a:endParaRPr b="1" sz="950">
              <a:solidFill>
                <a:srgbClr val="FFFFFF"/>
              </a:solidFill>
            </a:endParaRPr>
          </a:p>
        </p:txBody>
      </p:sp>
      <p:sp>
        <p:nvSpPr>
          <p:cNvPr id="270" name="Google Shape;270;p34"/>
          <p:cNvSpPr txBox="1"/>
          <p:nvPr/>
        </p:nvSpPr>
        <p:spPr>
          <a:xfrm>
            <a:off x="6464300" y="3771900"/>
            <a:ext cx="231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70">
                <a:solidFill>
                  <a:srgbClr val="121F2E"/>
                </a:solidFill>
              </a:rPr>
              <a:t>后续可按国家分区处理并单独报告；模型训练使用市场权重；检查边界、海上点和未匹配坐标。</a:t>
            </a:r>
            <a:endParaRPr sz="970">
              <a:solidFill>
                <a:srgbClr val="121F2E"/>
              </a:solidFill>
            </a:endParaRPr>
          </a:p>
        </p:txBody>
      </p:sp>
      <p:pic>
        <p:nvPicPr>
          <p:cNvPr id="271" name="Google Shape;271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13950" y="1572675"/>
            <a:ext cx="3214501" cy="23410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77" name="Google Shape;277;p35"/>
          <p:cNvSpPr txBox="1"/>
          <p:nvPr/>
        </p:nvSpPr>
        <p:spPr>
          <a:xfrm>
            <a:off x="330200" y="190500"/>
            <a:ext cx="1333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50">
                <a:solidFill>
                  <a:srgbClr val="6E52C2"/>
                </a:solidFill>
              </a:rPr>
              <a:t>03 可视化与分析</a:t>
            </a:r>
            <a:endParaRPr b="1" sz="850">
              <a:solidFill>
                <a:srgbClr val="6E52C2"/>
              </a:solidFill>
            </a:endParaRPr>
          </a:p>
        </p:txBody>
      </p:sp>
      <p:sp>
        <p:nvSpPr>
          <p:cNvPr id="278" name="Google Shape;278;p35"/>
          <p:cNvSpPr txBox="1"/>
          <p:nvPr/>
        </p:nvSpPr>
        <p:spPr>
          <a:xfrm>
            <a:off x="330200" y="406400"/>
            <a:ext cx="838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121F2E"/>
                </a:solidFill>
              </a:rPr>
              <a:t>3.1 经纬度：</a:t>
            </a:r>
            <a:r>
              <a:rPr b="1" lang="en" sz="2300">
                <a:solidFill>
                  <a:srgbClr val="121F2E"/>
                </a:solidFill>
              </a:rPr>
              <a:t>附近城市呈现集中趋势，存在长尾效应</a:t>
            </a:r>
            <a:endParaRPr b="1" sz="2300">
              <a:solidFill>
                <a:srgbClr val="121F2E"/>
              </a:solidFill>
            </a:endParaRPr>
          </a:p>
        </p:txBody>
      </p:sp>
      <p:sp>
        <p:nvSpPr>
          <p:cNvPr id="279" name="Google Shape;279;p35"/>
          <p:cNvSpPr/>
          <p:nvPr/>
        </p:nvSpPr>
        <p:spPr>
          <a:xfrm>
            <a:off x="330200" y="889000"/>
            <a:ext cx="812700" cy="38100"/>
          </a:xfrm>
          <a:prstGeom prst="rect">
            <a:avLst/>
          </a:prstGeom>
          <a:solidFill>
            <a:srgbClr val="6E52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280" name="Google Shape;28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000" y="992065"/>
            <a:ext cx="6070599" cy="3502269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35"/>
          <p:cNvSpPr/>
          <p:nvPr/>
        </p:nvSpPr>
        <p:spPr>
          <a:xfrm>
            <a:off x="6324600" y="1003300"/>
            <a:ext cx="2603400" cy="1066800"/>
          </a:xfrm>
          <a:prstGeom prst="roundRect">
            <a:avLst>
              <a:gd fmla="val 16667" name="adj"/>
            </a:avLst>
          </a:prstGeom>
          <a:solidFill>
            <a:srgbClr val="F6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82" name="Google Shape;282;p35"/>
          <p:cNvSpPr/>
          <p:nvPr/>
        </p:nvSpPr>
        <p:spPr>
          <a:xfrm>
            <a:off x="6464300" y="1130300"/>
            <a:ext cx="482700" cy="228600"/>
          </a:xfrm>
          <a:prstGeom prst="roundRect">
            <a:avLst>
              <a:gd fmla="val 16667" name="adj"/>
            </a:avLst>
          </a:prstGeom>
          <a:solidFill>
            <a:srgbClr val="3D7A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83" name="Google Shape;283;p35"/>
          <p:cNvSpPr txBox="1"/>
          <p:nvPr/>
        </p:nvSpPr>
        <p:spPr>
          <a:xfrm>
            <a:off x="6464300" y="1130300"/>
            <a:ext cx="482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rgbClr val="FFFFFF"/>
                </a:solidFill>
              </a:rPr>
              <a:t>分析</a:t>
            </a:r>
            <a:endParaRPr b="1" sz="950">
              <a:solidFill>
                <a:srgbClr val="FFFFFF"/>
              </a:solidFill>
            </a:endParaRPr>
          </a:p>
        </p:txBody>
      </p:sp>
      <p:sp>
        <p:nvSpPr>
          <p:cNvPr id="284" name="Google Shape;284;p35"/>
          <p:cNvSpPr txBox="1"/>
          <p:nvPr/>
        </p:nvSpPr>
        <p:spPr>
          <a:xfrm>
            <a:off x="6464300" y="1435100"/>
            <a:ext cx="231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70">
                <a:solidFill>
                  <a:srgbClr val="121F2E"/>
                </a:solidFill>
              </a:rPr>
              <a:t>雅加达 4,138 条，是图中最大城市；大阪 509 条、首尔 666 条。</a:t>
            </a:r>
            <a:endParaRPr sz="970">
              <a:solidFill>
                <a:srgbClr val="121F2E"/>
              </a:solidFill>
            </a:endParaRPr>
          </a:p>
        </p:txBody>
      </p:sp>
      <p:sp>
        <p:nvSpPr>
          <p:cNvPr id="285" name="Google Shape;285;p35"/>
          <p:cNvSpPr/>
          <p:nvPr/>
        </p:nvSpPr>
        <p:spPr>
          <a:xfrm>
            <a:off x="6324600" y="2171700"/>
            <a:ext cx="2603400" cy="1066800"/>
          </a:xfrm>
          <a:prstGeom prst="roundRect">
            <a:avLst>
              <a:gd fmla="val 16667" name="adj"/>
            </a:avLst>
          </a:prstGeom>
          <a:solidFill>
            <a:srgbClr val="F6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86" name="Google Shape;286;p35"/>
          <p:cNvSpPr/>
          <p:nvPr/>
        </p:nvSpPr>
        <p:spPr>
          <a:xfrm>
            <a:off x="6464300" y="2298700"/>
            <a:ext cx="482700" cy="228600"/>
          </a:xfrm>
          <a:prstGeom prst="roundRect">
            <a:avLst>
              <a:gd fmla="val 16667" name="adj"/>
            </a:avLst>
          </a:prstGeom>
          <a:solidFill>
            <a:srgbClr val="6E52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87" name="Google Shape;287;p35"/>
          <p:cNvSpPr txBox="1"/>
          <p:nvPr/>
        </p:nvSpPr>
        <p:spPr>
          <a:xfrm>
            <a:off x="6464300" y="2298700"/>
            <a:ext cx="482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rgbClr val="FFFFFF"/>
                </a:solidFill>
              </a:rPr>
              <a:t>结论</a:t>
            </a:r>
            <a:endParaRPr b="1" sz="950">
              <a:solidFill>
                <a:srgbClr val="FFFFFF"/>
              </a:solidFill>
            </a:endParaRPr>
          </a:p>
        </p:txBody>
      </p:sp>
      <p:sp>
        <p:nvSpPr>
          <p:cNvPr id="288" name="Google Shape;288;p35"/>
          <p:cNvSpPr txBox="1"/>
          <p:nvPr/>
        </p:nvSpPr>
        <p:spPr>
          <a:xfrm>
            <a:off x="6464300" y="2603500"/>
            <a:ext cx="231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70">
                <a:solidFill>
                  <a:srgbClr val="121F2E"/>
                </a:solidFill>
              </a:rPr>
              <a:t>用户较多分布在首都或大城市，可能因为都市人口较多，较为符合常识。</a:t>
            </a:r>
            <a:endParaRPr sz="970">
              <a:solidFill>
                <a:srgbClr val="121F2E"/>
              </a:solidFill>
            </a:endParaRPr>
          </a:p>
        </p:txBody>
      </p:sp>
      <p:sp>
        <p:nvSpPr>
          <p:cNvPr id="289" name="Google Shape;289;p35"/>
          <p:cNvSpPr/>
          <p:nvPr/>
        </p:nvSpPr>
        <p:spPr>
          <a:xfrm>
            <a:off x="6324600" y="3340100"/>
            <a:ext cx="2603400" cy="1066800"/>
          </a:xfrm>
          <a:prstGeom prst="roundRect">
            <a:avLst>
              <a:gd fmla="val 16667" name="adj"/>
            </a:avLst>
          </a:prstGeom>
          <a:solidFill>
            <a:srgbClr val="F6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90" name="Google Shape;290;p35"/>
          <p:cNvSpPr/>
          <p:nvPr/>
        </p:nvSpPr>
        <p:spPr>
          <a:xfrm>
            <a:off x="6464300" y="3467100"/>
            <a:ext cx="482700" cy="228600"/>
          </a:xfrm>
          <a:prstGeom prst="roundRect">
            <a:avLst>
              <a:gd fmla="val 16667" name="adj"/>
            </a:avLst>
          </a:prstGeom>
          <a:solidFill>
            <a:srgbClr val="1C85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91" name="Google Shape;291;p35"/>
          <p:cNvSpPr txBox="1"/>
          <p:nvPr/>
        </p:nvSpPr>
        <p:spPr>
          <a:xfrm>
            <a:off x="6464300" y="3467100"/>
            <a:ext cx="482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rgbClr val="FFFFFF"/>
                </a:solidFill>
              </a:rPr>
              <a:t>建议</a:t>
            </a:r>
            <a:endParaRPr b="1" sz="950">
              <a:solidFill>
                <a:srgbClr val="FFFFFF"/>
              </a:solidFill>
            </a:endParaRPr>
          </a:p>
        </p:txBody>
      </p:sp>
      <p:sp>
        <p:nvSpPr>
          <p:cNvPr id="292" name="Google Shape;292;p35"/>
          <p:cNvSpPr txBox="1"/>
          <p:nvPr/>
        </p:nvSpPr>
        <p:spPr>
          <a:xfrm>
            <a:off x="6464300" y="3771900"/>
            <a:ext cx="231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70">
                <a:solidFill>
                  <a:srgbClr val="121F2E"/>
                </a:solidFill>
              </a:rPr>
              <a:t>后续可根据所在城市进行用户分层，如一线城市/二线城市人群。</a:t>
            </a:r>
            <a:endParaRPr sz="970">
              <a:solidFill>
                <a:srgbClr val="121F2E"/>
              </a:solidFill>
            </a:endParaRPr>
          </a:p>
        </p:txBody>
      </p:sp>
      <p:sp>
        <p:nvSpPr>
          <p:cNvPr id="293" name="Google Shape;293;p35"/>
          <p:cNvSpPr txBox="1"/>
          <p:nvPr/>
        </p:nvSpPr>
        <p:spPr>
          <a:xfrm>
            <a:off x="330200" y="4787900"/>
            <a:ext cx="80646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70">
                <a:solidFill>
                  <a:srgbClr val="596375"/>
                </a:solidFill>
              </a:rPr>
              <a:t>来源：本地样本；GeoNames cities15000。分母为各坐标国家内记录。</a:t>
            </a:r>
            <a:endParaRPr sz="770">
              <a:solidFill>
                <a:srgbClr val="596375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99" name="Google Shape;299;p36"/>
          <p:cNvSpPr txBox="1"/>
          <p:nvPr/>
        </p:nvSpPr>
        <p:spPr>
          <a:xfrm>
            <a:off x="330200" y="190500"/>
            <a:ext cx="1333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50">
                <a:solidFill>
                  <a:srgbClr val="6E52C2"/>
                </a:solidFill>
              </a:rPr>
              <a:t>03 可视化与分析</a:t>
            </a:r>
            <a:endParaRPr b="1" sz="850">
              <a:solidFill>
                <a:srgbClr val="6E52C2"/>
              </a:solidFill>
            </a:endParaRPr>
          </a:p>
        </p:txBody>
      </p:sp>
      <p:sp>
        <p:nvSpPr>
          <p:cNvPr id="300" name="Google Shape;300;p36"/>
          <p:cNvSpPr txBox="1"/>
          <p:nvPr/>
        </p:nvSpPr>
        <p:spPr>
          <a:xfrm>
            <a:off x="330200" y="406400"/>
            <a:ext cx="838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121F2E"/>
                </a:solidFill>
              </a:rPr>
              <a:t>3.2 Timestamp：每日记录量不均衡</a:t>
            </a:r>
            <a:endParaRPr b="1" sz="2300">
              <a:solidFill>
                <a:srgbClr val="121F2E"/>
              </a:solidFill>
            </a:endParaRPr>
          </a:p>
        </p:txBody>
      </p:sp>
      <p:sp>
        <p:nvSpPr>
          <p:cNvPr id="301" name="Google Shape;301;p36"/>
          <p:cNvSpPr/>
          <p:nvPr/>
        </p:nvSpPr>
        <p:spPr>
          <a:xfrm>
            <a:off x="330200" y="889000"/>
            <a:ext cx="812700" cy="38100"/>
          </a:xfrm>
          <a:prstGeom prst="rect">
            <a:avLst/>
          </a:prstGeom>
          <a:solidFill>
            <a:srgbClr val="6E52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302" name="Google Shape;30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000" y="992065"/>
            <a:ext cx="6070599" cy="3502269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6"/>
          <p:cNvSpPr/>
          <p:nvPr/>
        </p:nvSpPr>
        <p:spPr>
          <a:xfrm>
            <a:off x="6324600" y="1003300"/>
            <a:ext cx="2603400" cy="1066800"/>
          </a:xfrm>
          <a:prstGeom prst="roundRect">
            <a:avLst>
              <a:gd fmla="val 16667" name="adj"/>
            </a:avLst>
          </a:prstGeom>
          <a:solidFill>
            <a:srgbClr val="F6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04" name="Google Shape;304;p36"/>
          <p:cNvSpPr/>
          <p:nvPr/>
        </p:nvSpPr>
        <p:spPr>
          <a:xfrm>
            <a:off x="6464300" y="1130300"/>
            <a:ext cx="482700" cy="228600"/>
          </a:xfrm>
          <a:prstGeom prst="roundRect">
            <a:avLst>
              <a:gd fmla="val 16667" name="adj"/>
            </a:avLst>
          </a:prstGeom>
          <a:solidFill>
            <a:srgbClr val="3D7A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05" name="Google Shape;305;p36"/>
          <p:cNvSpPr txBox="1"/>
          <p:nvPr/>
        </p:nvSpPr>
        <p:spPr>
          <a:xfrm>
            <a:off x="6464300" y="1130300"/>
            <a:ext cx="482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rgbClr val="FFFFFF"/>
                </a:solidFill>
              </a:rPr>
              <a:t>分析</a:t>
            </a:r>
            <a:endParaRPr b="1" sz="950">
              <a:solidFill>
                <a:srgbClr val="FFFFFF"/>
              </a:solidFill>
            </a:endParaRPr>
          </a:p>
        </p:txBody>
      </p:sp>
      <p:sp>
        <p:nvSpPr>
          <p:cNvPr id="306" name="Google Shape;306;p36"/>
          <p:cNvSpPr txBox="1"/>
          <p:nvPr/>
        </p:nvSpPr>
        <p:spPr>
          <a:xfrm>
            <a:off x="6464300" y="1435100"/>
            <a:ext cx="231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70">
                <a:solidFill>
                  <a:srgbClr val="121F2E"/>
                </a:solidFill>
              </a:rPr>
              <a:t>当地日期峰值为 12/6 的 11,709 条、12/7 的 9,228 条、12/9 的 6,378 条；首尾日期覆盖不完整。</a:t>
            </a:r>
            <a:endParaRPr sz="970">
              <a:solidFill>
                <a:srgbClr val="121F2E"/>
              </a:solidFill>
            </a:endParaRPr>
          </a:p>
        </p:txBody>
      </p:sp>
      <p:sp>
        <p:nvSpPr>
          <p:cNvPr id="307" name="Google Shape;307;p36"/>
          <p:cNvSpPr/>
          <p:nvPr/>
        </p:nvSpPr>
        <p:spPr>
          <a:xfrm>
            <a:off x="6324600" y="2171700"/>
            <a:ext cx="2603400" cy="1066800"/>
          </a:xfrm>
          <a:prstGeom prst="roundRect">
            <a:avLst>
              <a:gd fmla="val 16667" name="adj"/>
            </a:avLst>
          </a:prstGeom>
          <a:solidFill>
            <a:srgbClr val="F6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08" name="Google Shape;308;p36"/>
          <p:cNvSpPr/>
          <p:nvPr/>
        </p:nvSpPr>
        <p:spPr>
          <a:xfrm>
            <a:off x="6464300" y="2298700"/>
            <a:ext cx="482700" cy="228600"/>
          </a:xfrm>
          <a:prstGeom prst="roundRect">
            <a:avLst>
              <a:gd fmla="val 16667" name="adj"/>
            </a:avLst>
          </a:prstGeom>
          <a:solidFill>
            <a:srgbClr val="6E52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09" name="Google Shape;309;p36"/>
          <p:cNvSpPr txBox="1"/>
          <p:nvPr/>
        </p:nvSpPr>
        <p:spPr>
          <a:xfrm>
            <a:off x="6464300" y="2298700"/>
            <a:ext cx="482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rgbClr val="FFFFFF"/>
                </a:solidFill>
              </a:rPr>
              <a:t>结论</a:t>
            </a:r>
            <a:endParaRPr b="1" sz="950">
              <a:solidFill>
                <a:srgbClr val="FFFFFF"/>
              </a:solidFill>
            </a:endParaRPr>
          </a:p>
        </p:txBody>
      </p:sp>
      <p:sp>
        <p:nvSpPr>
          <p:cNvPr id="310" name="Google Shape;310;p36"/>
          <p:cNvSpPr txBox="1"/>
          <p:nvPr/>
        </p:nvSpPr>
        <p:spPr>
          <a:xfrm>
            <a:off x="6464300" y="2603500"/>
            <a:ext cx="231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70">
                <a:solidFill>
                  <a:srgbClr val="121F2E"/>
                </a:solidFill>
              </a:rPr>
              <a:t>单月内存在强烈采集波动。</a:t>
            </a:r>
            <a:endParaRPr sz="970">
              <a:solidFill>
                <a:srgbClr val="121F2E"/>
              </a:solidFill>
            </a:endParaRPr>
          </a:p>
        </p:txBody>
      </p:sp>
      <p:sp>
        <p:nvSpPr>
          <p:cNvPr id="311" name="Google Shape;311;p36"/>
          <p:cNvSpPr/>
          <p:nvPr/>
        </p:nvSpPr>
        <p:spPr>
          <a:xfrm>
            <a:off x="6324600" y="3340100"/>
            <a:ext cx="2603400" cy="1066800"/>
          </a:xfrm>
          <a:prstGeom prst="roundRect">
            <a:avLst>
              <a:gd fmla="val 16667" name="adj"/>
            </a:avLst>
          </a:prstGeom>
          <a:solidFill>
            <a:srgbClr val="F6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12" name="Google Shape;312;p36"/>
          <p:cNvSpPr/>
          <p:nvPr/>
        </p:nvSpPr>
        <p:spPr>
          <a:xfrm>
            <a:off x="6464300" y="3467100"/>
            <a:ext cx="482700" cy="228600"/>
          </a:xfrm>
          <a:prstGeom prst="roundRect">
            <a:avLst>
              <a:gd fmla="val 16667" name="adj"/>
            </a:avLst>
          </a:prstGeom>
          <a:solidFill>
            <a:srgbClr val="1C85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13" name="Google Shape;313;p36"/>
          <p:cNvSpPr txBox="1"/>
          <p:nvPr/>
        </p:nvSpPr>
        <p:spPr>
          <a:xfrm>
            <a:off x="6464300" y="3467100"/>
            <a:ext cx="482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rgbClr val="FFFFFF"/>
                </a:solidFill>
              </a:rPr>
              <a:t>建议</a:t>
            </a:r>
            <a:endParaRPr b="1" sz="950">
              <a:solidFill>
                <a:srgbClr val="FFFFFF"/>
              </a:solidFill>
            </a:endParaRPr>
          </a:p>
        </p:txBody>
      </p:sp>
      <p:sp>
        <p:nvSpPr>
          <p:cNvPr id="314" name="Google Shape;314;p36"/>
          <p:cNvSpPr txBox="1"/>
          <p:nvPr/>
        </p:nvSpPr>
        <p:spPr>
          <a:xfrm>
            <a:off x="6464300" y="3771900"/>
            <a:ext cx="231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70">
                <a:solidFill>
                  <a:srgbClr val="121F2E"/>
                </a:solidFill>
              </a:rPr>
              <a:t>建立日级新增或数据量警告；分析时剔除不完整边界日。</a:t>
            </a:r>
            <a:endParaRPr sz="970">
              <a:solidFill>
                <a:srgbClr val="121F2E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20" name="Google Shape;320;p37"/>
          <p:cNvSpPr txBox="1"/>
          <p:nvPr/>
        </p:nvSpPr>
        <p:spPr>
          <a:xfrm>
            <a:off x="330200" y="190500"/>
            <a:ext cx="1333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50">
                <a:solidFill>
                  <a:srgbClr val="6E52C2"/>
                </a:solidFill>
              </a:rPr>
              <a:t>03 可视化与分析</a:t>
            </a:r>
            <a:endParaRPr b="1" sz="850">
              <a:solidFill>
                <a:srgbClr val="6E52C2"/>
              </a:solidFill>
            </a:endParaRPr>
          </a:p>
        </p:txBody>
      </p:sp>
      <p:sp>
        <p:nvSpPr>
          <p:cNvPr id="321" name="Google Shape;321;p37"/>
          <p:cNvSpPr txBox="1"/>
          <p:nvPr/>
        </p:nvSpPr>
        <p:spPr>
          <a:xfrm>
            <a:off x="330200" y="406400"/>
            <a:ext cx="838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121F2E"/>
                </a:solidFill>
              </a:rPr>
              <a:t>3.2 Timestamp：</a:t>
            </a:r>
            <a:r>
              <a:rPr b="1" lang="en" sz="2300">
                <a:solidFill>
                  <a:srgbClr val="121F2E"/>
                </a:solidFill>
              </a:rPr>
              <a:t>每日国家分布展示出采集波动</a:t>
            </a:r>
            <a:endParaRPr b="1" sz="2300">
              <a:solidFill>
                <a:srgbClr val="121F2E"/>
              </a:solidFill>
            </a:endParaRPr>
          </a:p>
        </p:txBody>
      </p:sp>
      <p:sp>
        <p:nvSpPr>
          <p:cNvPr id="322" name="Google Shape;322;p37"/>
          <p:cNvSpPr/>
          <p:nvPr/>
        </p:nvSpPr>
        <p:spPr>
          <a:xfrm>
            <a:off x="330200" y="889000"/>
            <a:ext cx="812700" cy="38100"/>
          </a:xfrm>
          <a:prstGeom prst="rect">
            <a:avLst/>
          </a:prstGeom>
          <a:solidFill>
            <a:srgbClr val="6E52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323" name="Google Shape;32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000" y="992065"/>
            <a:ext cx="6070599" cy="3502269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37"/>
          <p:cNvSpPr/>
          <p:nvPr/>
        </p:nvSpPr>
        <p:spPr>
          <a:xfrm>
            <a:off x="6324600" y="1003300"/>
            <a:ext cx="2603400" cy="1066800"/>
          </a:xfrm>
          <a:prstGeom prst="roundRect">
            <a:avLst>
              <a:gd fmla="val 16667" name="adj"/>
            </a:avLst>
          </a:prstGeom>
          <a:solidFill>
            <a:srgbClr val="F6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25" name="Google Shape;325;p37"/>
          <p:cNvSpPr/>
          <p:nvPr/>
        </p:nvSpPr>
        <p:spPr>
          <a:xfrm>
            <a:off x="6464300" y="1130300"/>
            <a:ext cx="482700" cy="228600"/>
          </a:xfrm>
          <a:prstGeom prst="roundRect">
            <a:avLst>
              <a:gd fmla="val 16667" name="adj"/>
            </a:avLst>
          </a:prstGeom>
          <a:solidFill>
            <a:srgbClr val="3D7A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26" name="Google Shape;326;p37"/>
          <p:cNvSpPr txBox="1"/>
          <p:nvPr/>
        </p:nvSpPr>
        <p:spPr>
          <a:xfrm>
            <a:off x="6464300" y="1130300"/>
            <a:ext cx="482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rgbClr val="FFFFFF"/>
                </a:solidFill>
              </a:rPr>
              <a:t>分析</a:t>
            </a:r>
            <a:endParaRPr b="1" sz="950">
              <a:solidFill>
                <a:srgbClr val="FFFFFF"/>
              </a:solidFill>
            </a:endParaRPr>
          </a:p>
        </p:txBody>
      </p:sp>
      <p:sp>
        <p:nvSpPr>
          <p:cNvPr id="327" name="Google Shape;327;p37"/>
          <p:cNvSpPr txBox="1"/>
          <p:nvPr/>
        </p:nvSpPr>
        <p:spPr>
          <a:xfrm>
            <a:off x="6464300" y="1435100"/>
            <a:ext cx="231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70">
                <a:solidFill>
                  <a:srgbClr val="121F2E"/>
                </a:solidFill>
              </a:rPr>
              <a:t>主要市场在 12 月 6–9 日出现明显记录量变化；12月6-9日的增量主要由印度尼西亚导致。</a:t>
            </a:r>
            <a:endParaRPr sz="970">
              <a:solidFill>
                <a:srgbClr val="121F2E"/>
              </a:solidFill>
            </a:endParaRPr>
          </a:p>
        </p:txBody>
      </p:sp>
      <p:sp>
        <p:nvSpPr>
          <p:cNvPr id="328" name="Google Shape;328;p37"/>
          <p:cNvSpPr/>
          <p:nvPr/>
        </p:nvSpPr>
        <p:spPr>
          <a:xfrm>
            <a:off x="6324600" y="2171700"/>
            <a:ext cx="2603400" cy="1066800"/>
          </a:xfrm>
          <a:prstGeom prst="roundRect">
            <a:avLst>
              <a:gd fmla="val 16667" name="adj"/>
            </a:avLst>
          </a:prstGeom>
          <a:solidFill>
            <a:srgbClr val="F6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29" name="Google Shape;329;p37"/>
          <p:cNvSpPr/>
          <p:nvPr/>
        </p:nvSpPr>
        <p:spPr>
          <a:xfrm>
            <a:off x="6464300" y="2298700"/>
            <a:ext cx="482700" cy="228600"/>
          </a:xfrm>
          <a:prstGeom prst="roundRect">
            <a:avLst>
              <a:gd fmla="val 16667" name="adj"/>
            </a:avLst>
          </a:prstGeom>
          <a:solidFill>
            <a:srgbClr val="6E52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30" name="Google Shape;330;p37"/>
          <p:cNvSpPr txBox="1"/>
          <p:nvPr/>
        </p:nvSpPr>
        <p:spPr>
          <a:xfrm>
            <a:off x="6464300" y="2298700"/>
            <a:ext cx="482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rgbClr val="FFFFFF"/>
                </a:solidFill>
              </a:rPr>
              <a:t>结论</a:t>
            </a:r>
            <a:endParaRPr b="1" sz="950">
              <a:solidFill>
                <a:srgbClr val="FFFFFF"/>
              </a:solidFill>
            </a:endParaRPr>
          </a:p>
        </p:txBody>
      </p:sp>
      <p:sp>
        <p:nvSpPr>
          <p:cNvPr id="331" name="Google Shape;331;p37"/>
          <p:cNvSpPr txBox="1"/>
          <p:nvPr/>
        </p:nvSpPr>
        <p:spPr>
          <a:xfrm>
            <a:off x="6464300" y="2603500"/>
            <a:ext cx="231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70">
                <a:solidFill>
                  <a:srgbClr val="121F2E"/>
                </a:solidFill>
              </a:rPr>
              <a:t>12月6-9日用户信息采集量明显增多，并主要由印尼市场导致。</a:t>
            </a:r>
            <a:endParaRPr sz="970">
              <a:solidFill>
                <a:srgbClr val="121F2E"/>
              </a:solidFill>
            </a:endParaRPr>
          </a:p>
        </p:txBody>
      </p:sp>
      <p:sp>
        <p:nvSpPr>
          <p:cNvPr id="332" name="Google Shape;332;p37"/>
          <p:cNvSpPr/>
          <p:nvPr/>
        </p:nvSpPr>
        <p:spPr>
          <a:xfrm>
            <a:off x="6324600" y="3340100"/>
            <a:ext cx="2603400" cy="1066800"/>
          </a:xfrm>
          <a:prstGeom prst="roundRect">
            <a:avLst>
              <a:gd fmla="val 16667" name="adj"/>
            </a:avLst>
          </a:prstGeom>
          <a:solidFill>
            <a:srgbClr val="F6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33" name="Google Shape;333;p37"/>
          <p:cNvSpPr/>
          <p:nvPr/>
        </p:nvSpPr>
        <p:spPr>
          <a:xfrm>
            <a:off x="6464300" y="3467100"/>
            <a:ext cx="482700" cy="228600"/>
          </a:xfrm>
          <a:prstGeom prst="roundRect">
            <a:avLst>
              <a:gd fmla="val 16667" name="adj"/>
            </a:avLst>
          </a:prstGeom>
          <a:solidFill>
            <a:srgbClr val="1C85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34" name="Google Shape;334;p37"/>
          <p:cNvSpPr txBox="1"/>
          <p:nvPr/>
        </p:nvSpPr>
        <p:spPr>
          <a:xfrm>
            <a:off x="6464300" y="3467100"/>
            <a:ext cx="482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rgbClr val="FFFFFF"/>
                </a:solidFill>
              </a:rPr>
              <a:t>建议</a:t>
            </a:r>
            <a:endParaRPr b="1" sz="950">
              <a:solidFill>
                <a:srgbClr val="FFFFFF"/>
              </a:solidFill>
            </a:endParaRPr>
          </a:p>
        </p:txBody>
      </p:sp>
      <p:sp>
        <p:nvSpPr>
          <p:cNvPr id="335" name="Google Shape;335;p37"/>
          <p:cNvSpPr txBox="1"/>
          <p:nvPr/>
        </p:nvSpPr>
        <p:spPr>
          <a:xfrm>
            <a:off x="6464300" y="3771900"/>
            <a:ext cx="231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70">
                <a:solidFill>
                  <a:srgbClr val="121F2E"/>
                </a:solidFill>
              </a:rPr>
              <a:t>建立 country × date 数据量监控；同时看占比与绝对量；把发布、活动和故障日志接入解释异常。</a:t>
            </a:r>
            <a:endParaRPr sz="970">
              <a:solidFill>
                <a:srgbClr val="121F2E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41" name="Google Shape;341;p38"/>
          <p:cNvSpPr txBox="1"/>
          <p:nvPr/>
        </p:nvSpPr>
        <p:spPr>
          <a:xfrm>
            <a:off x="330200" y="190500"/>
            <a:ext cx="1333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50">
                <a:solidFill>
                  <a:srgbClr val="6E52C2"/>
                </a:solidFill>
              </a:rPr>
              <a:t>03 可视化与分析</a:t>
            </a:r>
            <a:endParaRPr b="1" sz="850">
              <a:solidFill>
                <a:srgbClr val="6E52C2"/>
              </a:solidFill>
            </a:endParaRPr>
          </a:p>
        </p:txBody>
      </p:sp>
      <p:sp>
        <p:nvSpPr>
          <p:cNvPr id="342" name="Google Shape;342;p38"/>
          <p:cNvSpPr txBox="1"/>
          <p:nvPr/>
        </p:nvSpPr>
        <p:spPr>
          <a:xfrm>
            <a:off x="330200" y="406400"/>
            <a:ext cx="838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121F2E"/>
                </a:solidFill>
              </a:rPr>
              <a:t>3.2 Timestamp：</a:t>
            </a:r>
            <a:r>
              <a:rPr b="1" lang="en" sz="2300">
                <a:solidFill>
                  <a:srgbClr val="121F2E"/>
                </a:solidFill>
              </a:rPr>
              <a:t>星期均值容易被少数峰值日拉高</a:t>
            </a:r>
            <a:endParaRPr b="1" sz="2300">
              <a:solidFill>
                <a:srgbClr val="121F2E"/>
              </a:solidFill>
            </a:endParaRPr>
          </a:p>
        </p:txBody>
      </p:sp>
      <p:sp>
        <p:nvSpPr>
          <p:cNvPr id="343" name="Google Shape;343;p38"/>
          <p:cNvSpPr/>
          <p:nvPr/>
        </p:nvSpPr>
        <p:spPr>
          <a:xfrm>
            <a:off x="330200" y="889000"/>
            <a:ext cx="812700" cy="38100"/>
          </a:xfrm>
          <a:prstGeom prst="rect">
            <a:avLst/>
          </a:prstGeom>
          <a:solidFill>
            <a:srgbClr val="6E52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344" name="Google Shape;34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000" y="992065"/>
            <a:ext cx="6070599" cy="3502269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8"/>
          <p:cNvSpPr/>
          <p:nvPr/>
        </p:nvSpPr>
        <p:spPr>
          <a:xfrm>
            <a:off x="6324600" y="1003300"/>
            <a:ext cx="2603400" cy="1066800"/>
          </a:xfrm>
          <a:prstGeom prst="roundRect">
            <a:avLst>
              <a:gd fmla="val 16667" name="adj"/>
            </a:avLst>
          </a:prstGeom>
          <a:solidFill>
            <a:srgbClr val="F6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46" name="Google Shape;346;p38"/>
          <p:cNvSpPr/>
          <p:nvPr/>
        </p:nvSpPr>
        <p:spPr>
          <a:xfrm>
            <a:off x="6464300" y="1130300"/>
            <a:ext cx="482700" cy="228600"/>
          </a:xfrm>
          <a:prstGeom prst="roundRect">
            <a:avLst>
              <a:gd fmla="val 16667" name="adj"/>
            </a:avLst>
          </a:prstGeom>
          <a:solidFill>
            <a:srgbClr val="3D7A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47" name="Google Shape;347;p38"/>
          <p:cNvSpPr txBox="1"/>
          <p:nvPr/>
        </p:nvSpPr>
        <p:spPr>
          <a:xfrm>
            <a:off x="6464300" y="1130300"/>
            <a:ext cx="482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rgbClr val="FFFFFF"/>
                </a:solidFill>
              </a:rPr>
              <a:t>分析</a:t>
            </a:r>
            <a:endParaRPr b="1" sz="950">
              <a:solidFill>
                <a:srgbClr val="FFFFFF"/>
              </a:solidFill>
            </a:endParaRPr>
          </a:p>
        </p:txBody>
      </p:sp>
      <p:sp>
        <p:nvSpPr>
          <p:cNvPr id="348" name="Google Shape;348;p38"/>
          <p:cNvSpPr txBox="1"/>
          <p:nvPr/>
        </p:nvSpPr>
        <p:spPr>
          <a:xfrm>
            <a:off x="6464300" y="1435100"/>
            <a:ext cx="231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70">
                <a:solidFill>
                  <a:srgbClr val="121F2E"/>
                </a:solidFill>
              </a:rPr>
              <a:t>日本周五均值 1,070、中位数 1,023；印尼周二均值 2,137、中位数仅 266.5；韩国周五 384.4/351。</a:t>
            </a:r>
            <a:endParaRPr sz="970">
              <a:solidFill>
                <a:srgbClr val="121F2E"/>
              </a:solidFill>
            </a:endParaRPr>
          </a:p>
        </p:txBody>
      </p:sp>
      <p:sp>
        <p:nvSpPr>
          <p:cNvPr id="349" name="Google Shape;349;p38"/>
          <p:cNvSpPr/>
          <p:nvPr/>
        </p:nvSpPr>
        <p:spPr>
          <a:xfrm>
            <a:off x="6324600" y="2171700"/>
            <a:ext cx="2603400" cy="1066800"/>
          </a:xfrm>
          <a:prstGeom prst="roundRect">
            <a:avLst>
              <a:gd fmla="val 16667" name="adj"/>
            </a:avLst>
          </a:prstGeom>
          <a:solidFill>
            <a:srgbClr val="F6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50" name="Google Shape;350;p38"/>
          <p:cNvSpPr/>
          <p:nvPr/>
        </p:nvSpPr>
        <p:spPr>
          <a:xfrm>
            <a:off x="6464300" y="2298700"/>
            <a:ext cx="482700" cy="228600"/>
          </a:xfrm>
          <a:prstGeom prst="roundRect">
            <a:avLst>
              <a:gd fmla="val 16667" name="adj"/>
            </a:avLst>
          </a:prstGeom>
          <a:solidFill>
            <a:srgbClr val="6E52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51" name="Google Shape;351;p38"/>
          <p:cNvSpPr txBox="1"/>
          <p:nvPr/>
        </p:nvSpPr>
        <p:spPr>
          <a:xfrm>
            <a:off x="6464300" y="2298700"/>
            <a:ext cx="482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rgbClr val="FFFFFF"/>
                </a:solidFill>
              </a:rPr>
              <a:t>结论</a:t>
            </a:r>
            <a:endParaRPr b="1" sz="950">
              <a:solidFill>
                <a:srgbClr val="FFFFFF"/>
              </a:solidFill>
            </a:endParaRPr>
          </a:p>
        </p:txBody>
      </p:sp>
      <p:sp>
        <p:nvSpPr>
          <p:cNvPr id="352" name="Google Shape;352;p38"/>
          <p:cNvSpPr txBox="1"/>
          <p:nvPr/>
        </p:nvSpPr>
        <p:spPr>
          <a:xfrm>
            <a:off x="6464300" y="2603500"/>
            <a:ext cx="231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70">
                <a:solidFill>
                  <a:srgbClr val="121F2E"/>
                </a:solidFill>
              </a:rPr>
              <a:t>印尼均值与中位数差距巨大，星期效应主要由异常日期驱动，不能视为稳定规律。</a:t>
            </a:r>
            <a:endParaRPr sz="970">
              <a:solidFill>
                <a:srgbClr val="121F2E"/>
              </a:solidFill>
            </a:endParaRPr>
          </a:p>
        </p:txBody>
      </p:sp>
      <p:sp>
        <p:nvSpPr>
          <p:cNvPr id="353" name="Google Shape;353;p38"/>
          <p:cNvSpPr/>
          <p:nvPr/>
        </p:nvSpPr>
        <p:spPr>
          <a:xfrm>
            <a:off x="6324600" y="3340100"/>
            <a:ext cx="2603400" cy="1066800"/>
          </a:xfrm>
          <a:prstGeom prst="roundRect">
            <a:avLst>
              <a:gd fmla="val 16667" name="adj"/>
            </a:avLst>
          </a:prstGeom>
          <a:solidFill>
            <a:srgbClr val="F6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54" name="Google Shape;354;p38"/>
          <p:cNvSpPr/>
          <p:nvPr/>
        </p:nvSpPr>
        <p:spPr>
          <a:xfrm>
            <a:off x="6464300" y="3467100"/>
            <a:ext cx="482700" cy="228600"/>
          </a:xfrm>
          <a:prstGeom prst="roundRect">
            <a:avLst>
              <a:gd fmla="val 16667" name="adj"/>
            </a:avLst>
          </a:prstGeom>
          <a:solidFill>
            <a:srgbClr val="1C85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55" name="Google Shape;355;p38"/>
          <p:cNvSpPr txBox="1"/>
          <p:nvPr/>
        </p:nvSpPr>
        <p:spPr>
          <a:xfrm>
            <a:off x="6464300" y="3467100"/>
            <a:ext cx="482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rgbClr val="FFFFFF"/>
                </a:solidFill>
              </a:rPr>
              <a:t>建议</a:t>
            </a:r>
            <a:endParaRPr b="1" sz="950">
              <a:solidFill>
                <a:srgbClr val="FFFFFF"/>
              </a:solidFill>
            </a:endParaRPr>
          </a:p>
        </p:txBody>
      </p:sp>
      <p:sp>
        <p:nvSpPr>
          <p:cNvPr id="356" name="Google Shape;356;p38"/>
          <p:cNvSpPr txBox="1"/>
          <p:nvPr/>
        </p:nvSpPr>
        <p:spPr>
          <a:xfrm>
            <a:off x="6464300" y="3771900"/>
            <a:ext cx="231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70">
                <a:solidFill>
                  <a:srgbClr val="121F2E"/>
                </a:solidFill>
              </a:rPr>
              <a:t>优先使用中位数和稳健区间；设置异常日标签；至少补充 8–12 周再评估星期模式。</a:t>
            </a:r>
            <a:endParaRPr sz="970">
              <a:solidFill>
                <a:srgbClr val="121F2E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62" name="Google Shape;362;p39"/>
          <p:cNvSpPr txBox="1"/>
          <p:nvPr/>
        </p:nvSpPr>
        <p:spPr>
          <a:xfrm>
            <a:off x="330200" y="190500"/>
            <a:ext cx="1333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50">
                <a:solidFill>
                  <a:srgbClr val="6E52C2"/>
                </a:solidFill>
              </a:rPr>
              <a:t>03 可视化与分析</a:t>
            </a:r>
            <a:endParaRPr b="1" sz="850">
              <a:solidFill>
                <a:srgbClr val="6E52C2"/>
              </a:solidFill>
            </a:endParaRPr>
          </a:p>
        </p:txBody>
      </p:sp>
      <p:sp>
        <p:nvSpPr>
          <p:cNvPr id="363" name="Google Shape;363;p39"/>
          <p:cNvSpPr txBox="1"/>
          <p:nvPr/>
        </p:nvSpPr>
        <p:spPr>
          <a:xfrm>
            <a:off x="330200" y="406400"/>
            <a:ext cx="838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121F2E"/>
                </a:solidFill>
              </a:rPr>
              <a:t>3.2 Timestamp：</a:t>
            </a:r>
            <a:r>
              <a:rPr b="1" lang="en" sz="2300">
                <a:solidFill>
                  <a:srgbClr val="121F2E"/>
                </a:solidFill>
              </a:rPr>
              <a:t>多数市场在当地下午至傍晚达到峰值</a:t>
            </a:r>
            <a:endParaRPr b="1" sz="2300">
              <a:solidFill>
                <a:srgbClr val="121F2E"/>
              </a:solidFill>
            </a:endParaRPr>
          </a:p>
        </p:txBody>
      </p:sp>
      <p:sp>
        <p:nvSpPr>
          <p:cNvPr id="364" name="Google Shape;364;p39"/>
          <p:cNvSpPr/>
          <p:nvPr/>
        </p:nvSpPr>
        <p:spPr>
          <a:xfrm>
            <a:off x="330200" y="889000"/>
            <a:ext cx="812700" cy="38100"/>
          </a:xfrm>
          <a:prstGeom prst="rect">
            <a:avLst/>
          </a:prstGeom>
          <a:solidFill>
            <a:srgbClr val="6E52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365" name="Google Shape;36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000" y="992065"/>
            <a:ext cx="6070599" cy="3502269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9"/>
          <p:cNvSpPr/>
          <p:nvPr/>
        </p:nvSpPr>
        <p:spPr>
          <a:xfrm>
            <a:off x="6324600" y="1003300"/>
            <a:ext cx="2603400" cy="1066800"/>
          </a:xfrm>
          <a:prstGeom prst="roundRect">
            <a:avLst>
              <a:gd fmla="val 16667" name="adj"/>
            </a:avLst>
          </a:prstGeom>
          <a:solidFill>
            <a:srgbClr val="F6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67" name="Google Shape;367;p39"/>
          <p:cNvSpPr/>
          <p:nvPr/>
        </p:nvSpPr>
        <p:spPr>
          <a:xfrm>
            <a:off x="6464300" y="1130300"/>
            <a:ext cx="482700" cy="228600"/>
          </a:xfrm>
          <a:prstGeom prst="roundRect">
            <a:avLst>
              <a:gd fmla="val 16667" name="adj"/>
            </a:avLst>
          </a:prstGeom>
          <a:solidFill>
            <a:srgbClr val="3D7A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68" name="Google Shape;368;p39"/>
          <p:cNvSpPr txBox="1"/>
          <p:nvPr/>
        </p:nvSpPr>
        <p:spPr>
          <a:xfrm>
            <a:off x="6464300" y="1130300"/>
            <a:ext cx="482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rgbClr val="FFFFFF"/>
                </a:solidFill>
              </a:rPr>
              <a:t>分析</a:t>
            </a:r>
            <a:endParaRPr b="1" sz="950">
              <a:solidFill>
                <a:srgbClr val="FFFFFF"/>
              </a:solidFill>
            </a:endParaRPr>
          </a:p>
        </p:txBody>
      </p:sp>
      <p:sp>
        <p:nvSpPr>
          <p:cNvPr id="369" name="Google Shape;369;p39"/>
          <p:cNvSpPr txBox="1"/>
          <p:nvPr/>
        </p:nvSpPr>
        <p:spPr>
          <a:xfrm>
            <a:off x="6464300" y="1435100"/>
            <a:ext cx="231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70">
                <a:solidFill>
                  <a:srgbClr val="121F2E"/>
                </a:solidFill>
              </a:rPr>
              <a:t>日本、印尼、韩国峰值均为 17:00；越南为 16:00，泰国为 15:00。</a:t>
            </a:r>
            <a:endParaRPr sz="970">
              <a:solidFill>
                <a:srgbClr val="121F2E"/>
              </a:solidFill>
            </a:endParaRPr>
          </a:p>
        </p:txBody>
      </p:sp>
      <p:sp>
        <p:nvSpPr>
          <p:cNvPr id="370" name="Google Shape;370;p39"/>
          <p:cNvSpPr/>
          <p:nvPr/>
        </p:nvSpPr>
        <p:spPr>
          <a:xfrm>
            <a:off x="6324600" y="2171700"/>
            <a:ext cx="2603400" cy="1066800"/>
          </a:xfrm>
          <a:prstGeom prst="roundRect">
            <a:avLst>
              <a:gd fmla="val 16667" name="adj"/>
            </a:avLst>
          </a:prstGeom>
          <a:solidFill>
            <a:srgbClr val="F6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71" name="Google Shape;371;p39"/>
          <p:cNvSpPr/>
          <p:nvPr/>
        </p:nvSpPr>
        <p:spPr>
          <a:xfrm>
            <a:off x="6464300" y="2298700"/>
            <a:ext cx="482700" cy="228600"/>
          </a:xfrm>
          <a:prstGeom prst="roundRect">
            <a:avLst>
              <a:gd fmla="val 16667" name="adj"/>
            </a:avLst>
          </a:prstGeom>
          <a:solidFill>
            <a:srgbClr val="6E52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72" name="Google Shape;372;p39"/>
          <p:cNvSpPr txBox="1"/>
          <p:nvPr/>
        </p:nvSpPr>
        <p:spPr>
          <a:xfrm>
            <a:off x="6464300" y="2298700"/>
            <a:ext cx="482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rgbClr val="FFFFFF"/>
                </a:solidFill>
              </a:rPr>
              <a:t>结论</a:t>
            </a:r>
            <a:endParaRPr b="1" sz="950">
              <a:solidFill>
                <a:srgbClr val="FFFFFF"/>
              </a:solidFill>
            </a:endParaRPr>
          </a:p>
        </p:txBody>
      </p:sp>
      <p:sp>
        <p:nvSpPr>
          <p:cNvPr id="373" name="Google Shape;373;p39"/>
          <p:cNvSpPr txBox="1"/>
          <p:nvPr/>
        </p:nvSpPr>
        <p:spPr>
          <a:xfrm>
            <a:off x="6464300" y="2603500"/>
            <a:ext cx="231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70">
                <a:solidFill>
                  <a:srgbClr val="121F2E"/>
                </a:solidFill>
              </a:rPr>
              <a:t>时区转换后出现相近的下午/傍晚集中，但记录量仍可能受采集机制影响。</a:t>
            </a:r>
            <a:endParaRPr sz="970">
              <a:solidFill>
                <a:srgbClr val="121F2E"/>
              </a:solidFill>
            </a:endParaRPr>
          </a:p>
        </p:txBody>
      </p:sp>
      <p:sp>
        <p:nvSpPr>
          <p:cNvPr id="374" name="Google Shape;374;p39"/>
          <p:cNvSpPr/>
          <p:nvPr/>
        </p:nvSpPr>
        <p:spPr>
          <a:xfrm>
            <a:off x="6324600" y="3340100"/>
            <a:ext cx="2603400" cy="1066800"/>
          </a:xfrm>
          <a:prstGeom prst="roundRect">
            <a:avLst>
              <a:gd fmla="val 16667" name="adj"/>
            </a:avLst>
          </a:prstGeom>
          <a:solidFill>
            <a:srgbClr val="F6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75" name="Google Shape;375;p39"/>
          <p:cNvSpPr/>
          <p:nvPr/>
        </p:nvSpPr>
        <p:spPr>
          <a:xfrm>
            <a:off x="6464300" y="3467100"/>
            <a:ext cx="482700" cy="228600"/>
          </a:xfrm>
          <a:prstGeom prst="roundRect">
            <a:avLst>
              <a:gd fmla="val 16667" name="adj"/>
            </a:avLst>
          </a:prstGeom>
          <a:solidFill>
            <a:srgbClr val="1C85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76" name="Google Shape;376;p39"/>
          <p:cNvSpPr txBox="1"/>
          <p:nvPr/>
        </p:nvSpPr>
        <p:spPr>
          <a:xfrm>
            <a:off x="6464300" y="3467100"/>
            <a:ext cx="482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rgbClr val="FFFFFF"/>
                </a:solidFill>
              </a:rPr>
              <a:t>建议</a:t>
            </a:r>
            <a:endParaRPr b="1" sz="950">
              <a:solidFill>
                <a:srgbClr val="FFFFFF"/>
              </a:solidFill>
            </a:endParaRPr>
          </a:p>
        </p:txBody>
      </p:sp>
      <p:sp>
        <p:nvSpPr>
          <p:cNvPr id="377" name="Google Shape;377;p39"/>
          <p:cNvSpPr txBox="1"/>
          <p:nvPr/>
        </p:nvSpPr>
        <p:spPr>
          <a:xfrm>
            <a:off x="6464300" y="3771900"/>
            <a:ext cx="231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70">
                <a:solidFill>
                  <a:srgbClr val="121F2E"/>
                </a:solidFill>
              </a:rPr>
              <a:t>可在此时段加强数据监控。</a:t>
            </a:r>
            <a:endParaRPr sz="970">
              <a:solidFill>
                <a:srgbClr val="121F2E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83" name="Google Shape;383;p40"/>
          <p:cNvSpPr txBox="1"/>
          <p:nvPr/>
        </p:nvSpPr>
        <p:spPr>
          <a:xfrm>
            <a:off x="330200" y="190500"/>
            <a:ext cx="1333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50">
                <a:solidFill>
                  <a:srgbClr val="6E52C2"/>
                </a:solidFill>
              </a:rPr>
              <a:t>03 可视化与分析</a:t>
            </a:r>
            <a:endParaRPr b="1" sz="850">
              <a:solidFill>
                <a:srgbClr val="6E52C2"/>
              </a:solidFill>
            </a:endParaRPr>
          </a:p>
        </p:txBody>
      </p:sp>
      <p:sp>
        <p:nvSpPr>
          <p:cNvPr id="384" name="Google Shape;384;p40"/>
          <p:cNvSpPr txBox="1"/>
          <p:nvPr/>
        </p:nvSpPr>
        <p:spPr>
          <a:xfrm>
            <a:off x="330200" y="406400"/>
            <a:ext cx="838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121F2E"/>
                </a:solidFill>
              </a:rPr>
              <a:t>3.2 Timestamp：</a:t>
            </a:r>
            <a:r>
              <a:rPr b="1" lang="en" sz="2300">
                <a:solidFill>
                  <a:srgbClr val="121F2E"/>
                </a:solidFill>
              </a:rPr>
              <a:t>星期 × 小时：周五傍晚为采集高峰期</a:t>
            </a:r>
            <a:endParaRPr b="1" sz="2300">
              <a:solidFill>
                <a:srgbClr val="121F2E"/>
              </a:solidFill>
            </a:endParaRPr>
          </a:p>
        </p:txBody>
      </p:sp>
      <p:sp>
        <p:nvSpPr>
          <p:cNvPr id="385" name="Google Shape;385;p40"/>
          <p:cNvSpPr/>
          <p:nvPr/>
        </p:nvSpPr>
        <p:spPr>
          <a:xfrm>
            <a:off x="330200" y="889000"/>
            <a:ext cx="812700" cy="38100"/>
          </a:xfrm>
          <a:prstGeom prst="rect">
            <a:avLst/>
          </a:prstGeom>
          <a:solidFill>
            <a:srgbClr val="6E52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386" name="Google Shape;386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000" y="992065"/>
            <a:ext cx="6070599" cy="3502269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40"/>
          <p:cNvSpPr/>
          <p:nvPr/>
        </p:nvSpPr>
        <p:spPr>
          <a:xfrm>
            <a:off x="6324600" y="1003300"/>
            <a:ext cx="2603400" cy="1066800"/>
          </a:xfrm>
          <a:prstGeom prst="roundRect">
            <a:avLst>
              <a:gd fmla="val 16667" name="adj"/>
            </a:avLst>
          </a:prstGeom>
          <a:solidFill>
            <a:srgbClr val="F6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88" name="Google Shape;388;p40"/>
          <p:cNvSpPr/>
          <p:nvPr/>
        </p:nvSpPr>
        <p:spPr>
          <a:xfrm>
            <a:off x="6464300" y="1130300"/>
            <a:ext cx="482700" cy="228600"/>
          </a:xfrm>
          <a:prstGeom prst="roundRect">
            <a:avLst>
              <a:gd fmla="val 16667" name="adj"/>
            </a:avLst>
          </a:prstGeom>
          <a:solidFill>
            <a:srgbClr val="3D7A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89" name="Google Shape;389;p40"/>
          <p:cNvSpPr txBox="1"/>
          <p:nvPr/>
        </p:nvSpPr>
        <p:spPr>
          <a:xfrm>
            <a:off x="6464300" y="1130300"/>
            <a:ext cx="482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rgbClr val="FFFFFF"/>
                </a:solidFill>
              </a:rPr>
              <a:t>分析</a:t>
            </a:r>
            <a:endParaRPr b="1" sz="950">
              <a:solidFill>
                <a:srgbClr val="FFFFFF"/>
              </a:solidFill>
            </a:endParaRPr>
          </a:p>
        </p:txBody>
      </p:sp>
      <p:sp>
        <p:nvSpPr>
          <p:cNvPr id="390" name="Google Shape;390;p40"/>
          <p:cNvSpPr txBox="1"/>
          <p:nvPr/>
        </p:nvSpPr>
        <p:spPr>
          <a:xfrm>
            <a:off x="6464300" y="1435100"/>
            <a:ext cx="231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70">
                <a:solidFill>
                  <a:srgbClr val="121F2E"/>
                </a:solidFill>
              </a:rPr>
              <a:t>日本周五 17 时日均 81；印尼周二 18 时 158.75；韩国周五 16 时 33.4。</a:t>
            </a:r>
            <a:endParaRPr sz="970">
              <a:solidFill>
                <a:srgbClr val="121F2E"/>
              </a:solidFill>
            </a:endParaRPr>
          </a:p>
        </p:txBody>
      </p:sp>
      <p:sp>
        <p:nvSpPr>
          <p:cNvPr id="391" name="Google Shape;391;p40"/>
          <p:cNvSpPr/>
          <p:nvPr/>
        </p:nvSpPr>
        <p:spPr>
          <a:xfrm>
            <a:off x="6324600" y="2171700"/>
            <a:ext cx="2603400" cy="1066800"/>
          </a:xfrm>
          <a:prstGeom prst="roundRect">
            <a:avLst>
              <a:gd fmla="val 16667" name="adj"/>
            </a:avLst>
          </a:prstGeom>
          <a:solidFill>
            <a:srgbClr val="F6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92" name="Google Shape;392;p40"/>
          <p:cNvSpPr/>
          <p:nvPr/>
        </p:nvSpPr>
        <p:spPr>
          <a:xfrm>
            <a:off x="6464300" y="2298700"/>
            <a:ext cx="482700" cy="228600"/>
          </a:xfrm>
          <a:prstGeom prst="roundRect">
            <a:avLst>
              <a:gd fmla="val 16667" name="adj"/>
            </a:avLst>
          </a:prstGeom>
          <a:solidFill>
            <a:srgbClr val="6E52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93" name="Google Shape;393;p40"/>
          <p:cNvSpPr txBox="1"/>
          <p:nvPr/>
        </p:nvSpPr>
        <p:spPr>
          <a:xfrm>
            <a:off x="6464300" y="2298700"/>
            <a:ext cx="482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rgbClr val="FFFFFF"/>
                </a:solidFill>
              </a:rPr>
              <a:t>结论</a:t>
            </a:r>
            <a:endParaRPr b="1" sz="950">
              <a:solidFill>
                <a:srgbClr val="FFFFFF"/>
              </a:solidFill>
            </a:endParaRPr>
          </a:p>
        </p:txBody>
      </p:sp>
      <p:sp>
        <p:nvSpPr>
          <p:cNvPr id="394" name="Google Shape;394;p40"/>
          <p:cNvSpPr txBox="1"/>
          <p:nvPr/>
        </p:nvSpPr>
        <p:spPr>
          <a:xfrm>
            <a:off x="6464300" y="2603500"/>
            <a:ext cx="231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70">
                <a:solidFill>
                  <a:srgbClr val="121F2E"/>
                </a:solidFill>
              </a:rPr>
              <a:t>每周五傍晚为用户数据采集高峰期。</a:t>
            </a:r>
            <a:endParaRPr sz="970">
              <a:solidFill>
                <a:srgbClr val="121F2E"/>
              </a:solidFill>
            </a:endParaRPr>
          </a:p>
        </p:txBody>
      </p:sp>
      <p:sp>
        <p:nvSpPr>
          <p:cNvPr id="395" name="Google Shape;395;p40"/>
          <p:cNvSpPr/>
          <p:nvPr/>
        </p:nvSpPr>
        <p:spPr>
          <a:xfrm>
            <a:off x="6324600" y="3340100"/>
            <a:ext cx="2603400" cy="1066800"/>
          </a:xfrm>
          <a:prstGeom prst="roundRect">
            <a:avLst>
              <a:gd fmla="val 16667" name="adj"/>
            </a:avLst>
          </a:prstGeom>
          <a:solidFill>
            <a:srgbClr val="F6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96" name="Google Shape;396;p40"/>
          <p:cNvSpPr/>
          <p:nvPr/>
        </p:nvSpPr>
        <p:spPr>
          <a:xfrm>
            <a:off x="6464300" y="3467100"/>
            <a:ext cx="482700" cy="228600"/>
          </a:xfrm>
          <a:prstGeom prst="roundRect">
            <a:avLst>
              <a:gd fmla="val 16667" name="adj"/>
            </a:avLst>
          </a:prstGeom>
          <a:solidFill>
            <a:srgbClr val="1C85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97" name="Google Shape;397;p40"/>
          <p:cNvSpPr txBox="1"/>
          <p:nvPr/>
        </p:nvSpPr>
        <p:spPr>
          <a:xfrm>
            <a:off x="6464300" y="3467100"/>
            <a:ext cx="482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rgbClr val="FFFFFF"/>
                </a:solidFill>
              </a:rPr>
              <a:t>建议</a:t>
            </a:r>
            <a:endParaRPr b="1" sz="950">
              <a:solidFill>
                <a:srgbClr val="FFFFFF"/>
              </a:solidFill>
            </a:endParaRPr>
          </a:p>
        </p:txBody>
      </p:sp>
      <p:sp>
        <p:nvSpPr>
          <p:cNvPr id="398" name="Google Shape;398;p40"/>
          <p:cNvSpPr txBox="1"/>
          <p:nvPr/>
        </p:nvSpPr>
        <p:spPr>
          <a:xfrm>
            <a:off x="6464300" y="3771900"/>
            <a:ext cx="231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70">
                <a:solidFill>
                  <a:srgbClr val="121F2E"/>
                </a:solidFill>
              </a:rPr>
              <a:t>可在此时段加强数据监控。</a:t>
            </a:r>
            <a:endParaRPr sz="970">
              <a:solidFill>
                <a:srgbClr val="121F2E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04" name="Google Shape;404;p41"/>
          <p:cNvSpPr txBox="1"/>
          <p:nvPr/>
        </p:nvSpPr>
        <p:spPr>
          <a:xfrm>
            <a:off x="330200" y="190500"/>
            <a:ext cx="1333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50">
                <a:solidFill>
                  <a:srgbClr val="6E52C2"/>
                </a:solidFill>
              </a:rPr>
              <a:t>03 可视化与分析</a:t>
            </a:r>
            <a:endParaRPr b="1" sz="850">
              <a:solidFill>
                <a:srgbClr val="6E52C2"/>
              </a:solidFill>
            </a:endParaRPr>
          </a:p>
        </p:txBody>
      </p:sp>
      <p:sp>
        <p:nvSpPr>
          <p:cNvPr id="405" name="Google Shape;405;p41"/>
          <p:cNvSpPr txBox="1"/>
          <p:nvPr/>
        </p:nvSpPr>
        <p:spPr>
          <a:xfrm>
            <a:off x="330200" y="406400"/>
            <a:ext cx="838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121F2E"/>
                </a:solidFill>
              </a:rPr>
              <a:t>3.2 Timestamp：</a:t>
            </a:r>
            <a:r>
              <a:rPr b="1" lang="en" sz="2300">
                <a:solidFill>
                  <a:srgbClr val="121F2E"/>
                </a:solidFill>
              </a:rPr>
              <a:t>探索节日对采集量的影响</a:t>
            </a:r>
            <a:endParaRPr b="1" sz="2300">
              <a:solidFill>
                <a:srgbClr val="121F2E"/>
              </a:solidFill>
            </a:endParaRPr>
          </a:p>
        </p:txBody>
      </p:sp>
      <p:sp>
        <p:nvSpPr>
          <p:cNvPr id="406" name="Google Shape;406;p41"/>
          <p:cNvSpPr/>
          <p:nvPr/>
        </p:nvSpPr>
        <p:spPr>
          <a:xfrm>
            <a:off x="330200" y="889000"/>
            <a:ext cx="812700" cy="38100"/>
          </a:xfrm>
          <a:prstGeom prst="rect">
            <a:avLst/>
          </a:prstGeom>
          <a:solidFill>
            <a:srgbClr val="6E52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407" name="Google Shape;40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000" y="992065"/>
            <a:ext cx="6070599" cy="3502269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41"/>
          <p:cNvSpPr/>
          <p:nvPr/>
        </p:nvSpPr>
        <p:spPr>
          <a:xfrm>
            <a:off x="6324600" y="1003300"/>
            <a:ext cx="2603400" cy="1066800"/>
          </a:xfrm>
          <a:prstGeom prst="roundRect">
            <a:avLst>
              <a:gd fmla="val 16667" name="adj"/>
            </a:avLst>
          </a:prstGeom>
          <a:solidFill>
            <a:srgbClr val="F6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09" name="Google Shape;409;p41"/>
          <p:cNvSpPr/>
          <p:nvPr/>
        </p:nvSpPr>
        <p:spPr>
          <a:xfrm>
            <a:off x="6464300" y="1130300"/>
            <a:ext cx="482700" cy="228600"/>
          </a:xfrm>
          <a:prstGeom prst="roundRect">
            <a:avLst>
              <a:gd fmla="val 16667" name="adj"/>
            </a:avLst>
          </a:prstGeom>
          <a:solidFill>
            <a:srgbClr val="3D7A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10" name="Google Shape;410;p41"/>
          <p:cNvSpPr txBox="1"/>
          <p:nvPr/>
        </p:nvSpPr>
        <p:spPr>
          <a:xfrm>
            <a:off x="6464300" y="1130300"/>
            <a:ext cx="482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rgbClr val="FFFFFF"/>
                </a:solidFill>
              </a:rPr>
              <a:t>分析</a:t>
            </a:r>
            <a:endParaRPr b="1" sz="950">
              <a:solidFill>
                <a:srgbClr val="FFFFFF"/>
              </a:solidFill>
            </a:endParaRPr>
          </a:p>
        </p:txBody>
      </p:sp>
      <p:sp>
        <p:nvSpPr>
          <p:cNvPr id="411" name="Google Shape;411;p41"/>
          <p:cNvSpPr txBox="1"/>
          <p:nvPr/>
        </p:nvSpPr>
        <p:spPr>
          <a:xfrm>
            <a:off x="6464300" y="1435100"/>
            <a:ext cx="231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70">
                <a:solidFill>
                  <a:srgbClr val="121F2E"/>
                </a:solidFill>
              </a:rPr>
              <a:t>印尼圣诞节为同星期对照的 0.96 倍；新加坡约 1.02–1.05 倍；香港样本极小且波动大。</a:t>
            </a:r>
            <a:endParaRPr sz="970">
              <a:solidFill>
                <a:srgbClr val="121F2E"/>
              </a:solidFill>
            </a:endParaRPr>
          </a:p>
        </p:txBody>
      </p:sp>
      <p:sp>
        <p:nvSpPr>
          <p:cNvPr id="412" name="Google Shape;412;p41"/>
          <p:cNvSpPr/>
          <p:nvPr/>
        </p:nvSpPr>
        <p:spPr>
          <a:xfrm>
            <a:off x="6324600" y="2171700"/>
            <a:ext cx="2603400" cy="1066800"/>
          </a:xfrm>
          <a:prstGeom prst="roundRect">
            <a:avLst>
              <a:gd fmla="val 16667" name="adj"/>
            </a:avLst>
          </a:prstGeom>
          <a:solidFill>
            <a:srgbClr val="F6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13" name="Google Shape;413;p41"/>
          <p:cNvSpPr/>
          <p:nvPr/>
        </p:nvSpPr>
        <p:spPr>
          <a:xfrm>
            <a:off x="6464300" y="2298700"/>
            <a:ext cx="482700" cy="228600"/>
          </a:xfrm>
          <a:prstGeom prst="roundRect">
            <a:avLst>
              <a:gd fmla="val 16667" name="adj"/>
            </a:avLst>
          </a:prstGeom>
          <a:solidFill>
            <a:srgbClr val="6E52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14" name="Google Shape;414;p41"/>
          <p:cNvSpPr txBox="1"/>
          <p:nvPr/>
        </p:nvSpPr>
        <p:spPr>
          <a:xfrm>
            <a:off x="6464300" y="2298700"/>
            <a:ext cx="482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rgbClr val="FFFFFF"/>
                </a:solidFill>
              </a:rPr>
              <a:t>结论</a:t>
            </a:r>
            <a:endParaRPr b="1" sz="950">
              <a:solidFill>
                <a:srgbClr val="FFFFFF"/>
              </a:solidFill>
            </a:endParaRPr>
          </a:p>
        </p:txBody>
      </p:sp>
      <p:sp>
        <p:nvSpPr>
          <p:cNvPr id="415" name="Google Shape;415;p41"/>
          <p:cNvSpPr txBox="1"/>
          <p:nvPr/>
        </p:nvSpPr>
        <p:spPr>
          <a:xfrm>
            <a:off x="6464300" y="2603500"/>
            <a:ext cx="231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70">
                <a:solidFill>
                  <a:srgbClr val="121F2E"/>
                </a:solidFill>
              </a:rPr>
              <a:t>节日并不是影响采集量的关键因素。</a:t>
            </a:r>
            <a:endParaRPr sz="970">
              <a:solidFill>
                <a:srgbClr val="121F2E"/>
              </a:solidFill>
            </a:endParaRPr>
          </a:p>
        </p:txBody>
      </p:sp>
      <p:sp>
        <p:nvSpPr>
          <p:cNvPr id="416" name="Google Shape;416;p41"/>
          <p:cNvSpPr/>
          <p:nvPr/>
        </p:nvSpPr>
        <p:spPr>
          <a:xfrm>
            <a:off x="6324600" y="3340100"/>
            <a:ext cx="2603400" cy="1066800"/>
          </a:xfrm>
          <a:prstGeom prst="roundRect">
            <a:avLst>
              <a:gd fmla="val 16667" name="adj"/>
            </a:avLst>
          </a:prstGeom>
          <a:solidFill>
            <a:srgbClr val="F6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17" name="Google Shape;417;p41"/>
          <p:cNvSpPr/>
          <p:nvPr/>
        </p:nvSpPr>
        <p:spPr>
          <a:xfrm>
            <a:off x="6464300" y="3467100"/>
            <a:ext cx="482700" cy="228600"/>
          </a:xfrm>
          <a:prstGeom prst="roundRect">
            <a:avLst>
              <a:gd fmla="val 16667" name="adj"/>
            </a:avLst>
          </a:prstGeom>
          <a:solidFill>
            <a:srgbClr val="1C85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18" name="Google Shape;418;p41"/>
          <p:cNvSpPr txBox="1"/>
          <p:nvPr/>
        </p:nvSpPr>
        <p:spPr>
          <a:xfrm>
            <a:off x="6464300" y="3467100"/>
            <a:ext cx="482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rgbClr val="FFFFFF"/>
                </a:solidFill>
              </a:rPr>
              <a:t>建议</a:t>
            </a:r>
            <a:endParaRPr b="1" sz="950">
              <a:solidFill>
                <a:srgbClr val="FFFFFF"/>
              </a:solidFill>
            </a:endParaRPr>
          </a:p>
        </p:txBody>
      </p:sp>
      <p:sp>
        <p:nvSpPr>
          <p:cNvPr id="419" name="Google Shape;419;p41"/>
          <p:cNvSpPr txBox="1"/>
          <p:nvPr/>
        </p:nvSpPr>
        <p:spPr>
          <a:xfrm>
            <a:off x="6464300" y="3771900"/>
            <a:ext cx="231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70">
                <a:solidFill>
                  <a:srgbClr val="121F2E"/>
                </a:solidFill>
              </a:rPr>
              <a:t>并不需要特别关注节日的影响</a:t>
            </a:r>
            <a:endParaRPr sz="970">
              <a:solidFill>
                <a:srgbClr val="121F2E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25" name="Google Shape;425;p42"/>
          <p:cNvSpPr txBox="1"/>
          <p:nvPr/>
        </p:nvSpPr>
        <p:spPr>
          <a:xfrm>
            <a:off x="330200" y="190500"/>
            <a:ext cx="1333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50">
                <a:solidFill>
                  <a:srgbClr val="6E52C2"/>
                </a:solidFill>
              </a:rPr>
              <a:t>03 可视化与分析</a:t>
            </a:r>
            <a:endParaRPr b="1" sz="850">
              <a:solidFill>
                <a:srgbClr val="6E52C2"/>
              </a:solidFill>
            </a:endParaRPr>
          </a:p>
        </p:txBody>
      </p:sp>
      <p:sp>
        <p:nvSpPr>
          <p:cNvPr id="426" name="Google Shape;426;p42"/>
          <p:cNvSpPr txBox="1"/>
          <p:nvPr/>
        </p:nvSpPr>
        <p:spPr>
          <a:xfrm>
            <a:off x="330200" y="406400"/>
            <a:ext cx="838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121F2E"/>
                </a:solidFill>
              </a:rPr>
              <a:t>3.3 IP地址：IP 国家分布与坐标市场明显不同</a:t>
            </a:r>
            <a:endParaRPr b="1" sz="2300">
              <a:solidFill>
                <a:srgbClr val="121F2E"/>
              </a:solidFill>
            </a:endParaRPr>
          </a:p>
        </p:txBody>
      </p:sp>
      <p:sp>
        <p:nvSpPr>
          <p:cNvPr id="427" name="Google Shape;427;p42"/>
          <p:cNvSpPr/>
          <p:nvPr/>
        </p:nvSpPr>
        <p:spPr>
          <a:xfrm>
            <a:off x="330200" y="889000"/>
            <a:ext cx="812700" cy="38100"/>
          </a:xfrm>
          <a:prstGeom prst="rect">
            <a:avLst/>
          </a:prstGeom>
          <a:solidFill>
            <a:srgbClr val="6E52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428" name="Google Shape;428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5925" y="952500"/>
            <a:ext cx="3818333" cy="2202875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42"/>
          <p:cNvSpPr/>
          <p:nvPr/>
        </p:nvSpPr>
        <p:spPr>
          <a:xfrm>
            <a:off x="6324600" y="1003300"/>
            <a:ext cx="2603400" cy="1066800"/>
          </a:xfrm>
          <a:prstGeom prst="roundRect">
            <a:avLst>
              <a:gd fmla="val 16667" name="adj"/>
            </a:avLst>
          </a:prstGeom>
          <a:solidFill>
            <a:srgbClr val="F6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30" name="Google Shape;430;p42"/>
          <p:cNvSpPr/>
          <p:nvPr/>
        </p:nvSpPr>
        <p:spPr>
          <a:xfrm>
            <a:off x="6464300" y="1130300"/>
            <a:ext cx="482700" cy="228600"/>
          </a:xfrm>
          <a:prstGeom prst="roundRect">
            <a:avLst>
              <a:gd fmla="val 16667" name="adj"/>
            </a:avLst>
          </a:prstGeom>
          <a:solidFill>
            <a:srgbClr val="3D7A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31" name="Google Shape;431;p42"/>
          <p:cNvSpPr txBox="1"/>
          <p:nvPr/>
        </p:nvSpPr>
        <p:spPr>
          <a:xfrm>
            <a:off x="6464300" y="1130300"/>
            <a:ext cx="482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rgbClr val="FFFFFF"/>
                </a:solidFill>
              </a:rPr>
              <a:t>分析</a:t>
            </a:r>
            <a:endParaRPr b="1" sz="950">
              <a:solidFill>
                <a:srgbClr val="FFFFFF"/>
              </a:solidFill>
            </a:endParaRPr>
          </a:p>
        </p:txBody>
      </p:sp>
      <p:sp>
        <p:nvSpPr>
          <p:cNvPr id="432" name="Google Shape;432;p42"/>
          <p:cNvSpPr txBox="1"/>
          <p:nvPr/>
        </p:nvSpPr>
        <p:spPr>
          <a:xfrm>
            <a:off x="6464300" y="1435100"/>
            <a:ext cx="231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70">
                <a:solidFill>
                  <a:srgbClr val="121F2E"/>
                </a:solidFill>
              </a:rPr>
              <a:t>45,773 条 IP 匹配国家；匹配样本中美国占 36.28%，中国 8.73%，瑞士 6.32%。</a:t>
            </a:r>
            <a:endParaRPr sz="970">
              <a:solidFill>
                <a:srgbClr val="121F2E"/>
              </a:solidFill>
            </a:endParaRPr>
          </a:p>
        </p:txBody>
      </p:sp>
      <p:sp>
        <p:nvSpPr>
          <p:cNvPr id="433" name="Google Shape;433;p42"/>
          <p:cNvSpPr/>
          <p:nvPr/>
        </p:nvSpPr>
        <p:spPr>
          <a:xfrm>
            <a:off x="6324600" y="2171700"/>
            <a:ext cx="2603400" cy="1066800"/>
          </a:xfrm>
          <a:prstGeom prst="roundRect">
            <a:avLst>
              <a:gd fmla="val 16667" name="adj"/>
            </a:avLst>
          </a:prstGeom>
          <a:solidFill>
            <a:srgbClr val="F6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34" name="Google Shape;434;p42"/>
          <p:cNvSpPr/>
          <p:nvPr/>
        </p:nvSpPr>
        <p:spPr>
          <a:xfrm>
            <a:off x="6464300" y="2298700"/>
            <a:ext cx="482700" cy="228600"/>
          </a:xfrm>
          <a:prstGeom prst="roundRect">
            <a:avLst>
              <a:gd fmla="val 16667" name="adj"/>
            </a:avLst>
          </a:prstGeom>
          <a:solidFill>
            <a:srgbClr val="6E52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35" name="Google Shape;435;p42"/>
          <p:cNvSpPr txBox="1"/>
          <p:nvPr/>
        </p:nvSpPr>
        <p:spPr>
          <a:xfrm>
            <a:off x="6464300" y="2298700"/>
            <a:ext cx="482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rgbClr val="FFFFFF"/>
                </a:solidFill>
              </a:rPr>
              <a:t>结论</a:t>
            </a:r>
            <a:endParaRPr b="1" sz="950">
              <a:solidFill>
                <a:srgbClr val="FFFFFF"/>
              </a:solidFill>
            </a:endParaRPr>
          </a:p>
        </p:txBody>
      </p:sp>
      <p:sp>
        <p:nvSpPr>
          <p:cNvPr id="436" name="Google Shape;436;p42"/>
          <p:cNvSpPr txBox="1"/>
          <p:nvPr/>
        </p:nvSpPr>
        <p:spPr>
          <a:xfrm>
            <a:off x="6464300" y="2603500"/>
            <a:ext cx="231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70">
                <a:solidFill>
                  <a:srgbClr val="121F2E"/>
                </a:solidFill>
              </a:rPr>
              <a:t>并不是所有IP都匹配国家位置，在本数据中不适合作为用户所在地，但作为辅助交叉验证还需进一步确认原因。</a:t>
            </a:r>
            <a:endParaRPr sz="970">
              <a:solidFill>
                <a:srgbClr val="121F2E"/>
              </a:solidFill>
            </a:endParaRPr>
          </a:p>
        </p:txBody>
      </p:sp>
      <p:sp>
        <p:nvSpPr>
          <p:cNvPr id="437" name="Google Shape;437;p42"/>
          <p:cNvSpPr/>
          <p:nvPr/>
        </p:nvSpPr>
        <p:spPr>
          <a:xfrm>
            <a:off x="6324600" y="3340100"/>
            <a:ext cx="2603400" cy="1066800"/>
          </a:xfrm>
          <a:prstGeom prst="roundRect">
            <a:avLst>
              <a:gd fmla="val 16667" name="adj"/>
            </a:avLst>
          </a:prstGeom>
          <a:solidFill>
            <a:srgbClr val="F6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38" name="Google Shape;438;p42"/>
          <p:cNvSpPr/>
          <p:nvPr/>
        </p:nvSpPr>
        <p:spPr>
          <a:xfrm>
            <a:off x="6464300" y="3467100"/>
            <a:ext cx="482700" cy="228600"/>
          </a:xfrm>
          <a:prstGeom prst="roundRect">
            <a:avLst>
              <a:gd fmla="val 16667" name="adj"/>
            </a:avLst>
          </a:prstGeom>
          <a:solidFill>
            <a:srgbClr val="1C85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39" name="Google Shape;439;p42"/>
          <p:cNvSpPr txBox="1"/>
          <p:nvPr/>
        </p:nvSpPr>
        <p:spPr>
          <a:xfrm>
            <a:off x="6464300" y="3467100"/>
            <a:ext cx="482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rgbClr val="FFFFFF"/>
                </a:solidFill>
              </a:rPr>
              <a:t>建议</a:t>
            </a:r>
            <a:endParaRPr b="1" sz="950">
              <a:solidFill>
                <a:srgbClr val="FFFFFF"/>
              </a:solidFill>
            </a:endParaRPr>
          </a:p>
        </p:txBody>
      </p:sp>
      <p:sp>
        <p:nvSpPr>
          <p:cNvPr id="440" name="Google Shape;440;p42"/>
          <p:cNvSpPr txBox="1"/>
          <p:nvPr/>
        </p:nvSpPr>
        <p:spPr>
          <a:xfrm>
            <a:off x="6464300" y="3771900"/>
            <a:ext cx="231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70">
                <a:solidFill>
                  <a:srgbClr val="121F2E"/>
                </a:solidFill>
              </a:rPr>
              <a:t>坐标国家与 IP 国家并列保存；IP 用作网络/风险信号；下一步核实用户是否使用 VPN、代理，或因为脱敏原因未显示真实IP。</a:t>
            </a:r>
            <a:endParaRPr sz="970">
              <a:solidFill>
                <a:srgbClr val="121F2E"/>
              </a:solidFill>
            </a:endParaRPr>
          </a:p>
        </p:txBody>
      </p:sp>
      <p:pic>
        <p:nvPicPr>
          <p:cNvPr id="441" name="Google Shape;441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5925" y="2937152"/>
            <a:ext cx="3818333" cy="220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4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47" name="Google Shape;447;p43"/>
          <p:cNvSpPr txBox="1"/>
          <p:nvPr/>
        </p:nvSpPr>
        <p:spPr>
          <a:xfrm>
            <a:off x="330200" y="190500"/>
            <a:ext cx="1333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50">
                <a:solidFill>
                  <a:srgbClr val="6E52C2"/>
                </a:solidFill>
              </a:rPr>
              <a:t>03 可视化与分析</a:t>
            </a:r>
            <a:endParaRPr b="1" sz="850">
              <a:solidFill>
                <a:srgbClr val="6E52C2"/>
              </a:solidFill>
            </a:endParaRPr>
          </a:p>
        </p:txBody>
      </p:sp>
      <p:sp>
        <p:nvSpPr>
          <p:cNvPr id="448" name="Google Shape;448;p43"/>
          <p:cNvSpPr txBox="1"/>
          <p:nvPr/>
        </p:nvSpPr>
        <p:spPr>
          <a:xfrm>
            <a:off x="330200" y="406400"/>
            <a:ext cx="838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121F2E"/>
                </a:solidFill>
              </a:rPr>
              <a:t>3.3 IP地址：</a:t>
            </a:r>
            <a:r>
              <a:rPr b="1" lang="en" sz="2300">
                <a:solidFill>
                  <a:srgbClr val="121F2E"/>
                </a:solidFill>
              </a:rPr>
              <a:t>IPv6 中保留地址占比</a:t>
            </a:r>
            <a:r>
              <a:rPr b="1" lang="en" sz="2300">
                <a:solidFill>
                  <a:srgbClr val="121F2E"/>
                </a:solidFill>
              </a:rPr>
              <a:t>异常</a:t>
            </a:r>
            <a:r>
              <a:rPr b="1" lang="en" sz="2300">
                <a:solidFill>
                  <a:srgbClr val="121F2E"/>
                </a:solidFill>
              </a:rPr>
              <a:t>高</a:t>
            </a:r>
            <a:endParaRPr b="1" sz="2300">
              <a:solidFill>
                <a:srgbClr val="121F2E"/>
              </a:solidFill>
            </a:endParaRPr>
          </a:p>
        </p:txBody>
      </p:sp>
      <p:sp>
        <p:nvSpPr>
          <p:cNvPr id="449" name="Google Shape;449;p43"/>
          <p:cNvSpPr/>
          <p:nvPr/>
        </p:nvSpPr>
        <p:spPr>
          <a:xfrm>
            <a:off x="330200" y="889000"/>
            <a:ext cx="812700" cy="38100"/>
          </a:xfrm>
          <a:prstGeom prst="rect">
            <a:avLst/>
          </a:prstGeom>
          <a:solidFill>
            <a:srgbClr val="6E52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450" name="Google Shape;450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000" y="992065"/>
            <a:ext cx="6070599" cy="3502269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43"/>
          <p:cNvSpPr/>
          <p:nvPr/>
        </p:nvSpPr>
        <p:spPr>
          <a:xfrm>
            <a:off x="6324600" y="1003300"/>
            <a:ext cx="2603400" cy="1066800"/>
          </a:xfrm>
          <a:prstGeom prst="roundRect">
            <a:avLst>
              <a:gd fmla="val 16667" name="adj"/>
            </a:avLst>
          </a:prstGeom>
          <a:solidFill>
            <a:srgbClr val="F6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52" name="Google Shape;452;p43"/>
          <p:cNvSpPr/>
          <p:nvPr/>
        </p:nvSpPr>
        <p:spPr>
          <a:xfrm>
            <a:off x="6464300" y="1130300"/>
            <a:ext cx="482700" cy="228600"/>
          </a:xfrm>
          <a:prstGeom prst="roundRect">
            <a:avLst>
              <a:gd fmla="val 16667" name="adj"/>
            </a:avLst>
          </a:prstGeom>
          <a:solidFill>
            <a:srgbClr val="3D7A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53" name="Google Shape;453;p43"/>
          <p:cNvSpPr txBox="1"/>
          <p:nvPr/>
        </p:nvSpPr>
        <p:spPr>
          <a:xfrm>
            <a:off x="6464300" y="1130300"/>
            <a:ext cx="482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rgbClr val="FFFFFF"/>
                </a:solidFill>
              </a:rPr>
              <a:t>分析</a:t>
            </a:r>
            <a:endParaRPr b="1" sz="950">
              <a:solidFill>
                <a:srgbClr val="FFFFFF"/>
              </a:solidFill>
            </a:endParaRPr>
          </a:p>
        </p:txBody>
      </p:sp>
      <p:sp>
        <p:nvSpPr>
          <p:cNvPr id="454" name="Google Shape;454;p43"/>
          <p:cNvSpPr txBox="1"/>
          <p:nvPr/>
        </p:nvSpPr>
        <p:spPr>
          <a:xfrm>
            <a:off x="6464300" y="1435100"/>
            <a:ext cx="231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70">
                <a:solidFill>
                  <a:srgbClr val="121F2E"/>
                </a:solidFill>
              </a:rPr>
              <a:t>IPv4 中公网单播候选占 86.20%；IPv6 中 reserved 占 86.21%，公网候选仅 12.49%。</a:t>
            </a:r>
            <a:endParaRPr sz="970">
              <a:solidFill>
                <a:srgbClr val="121F2E"/>
              </a:solidFill>
            </a:endParaRPr>
          </a:p>
        </p:txBody>
      </p:sp>
      <p:sp>
        <p:nvSpPr>
          <p:cNvPr id="455" name="Google Shape;455;p43"/>
          <p:cNvSpPr/>
          <p:nvPr/>
        </p:nvSpPr>
        <p:spPr>
          <a:xfrm>
            <a:off x="6324600" y="2171700"/>
            <a:ext cx="2603400" cy="1066800"/>
          </a:xfrm>
          <a:prstGeom prst="roundRect">
            <a:avLst>
              <a:gd fmla="val 16667" name="adj"/>
            </a:avLst>
          </a:prstGeom>
          <a:solidFill>
            <a:srgbClr val="F6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56" name="Google Shape;456;p43"/>
          <p:cNvSpPr/>
          <p:nvPr/>
        </p:nvSpPr>
        <p:spPr>
          <a:xfrm>
            <a:off x="6464300" y="2298700"/>
            <a:ext cx="482700" cy="228600"/>
          </a:xfrm>
          <a:prstGeom prst="roundRect">
            <a:avLst>
              <a:gd fmla="val 16667" name="adj"/>
            </a:avLst>
          </a:prstGeom>
          <a:solidFill>
            <a:srgbClr val="6E52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57" name="Google Shape;457;p43"/>
          <p:cNvSpPr txBox="1"/>
          <p:nvPr/>
        </p:nvSpPr>
        <p:spPr>
          <a:xfrm>
            <a:off x="6464300" y="2298700"/>
            <a:ext cx="482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rgbClr val="FFFFFF"/>
                </a:solidFill>
              </a:rPr>
              <a:t>结论</a:t>
            </a:r>
            <a:endParaRPr b="1" sz="950">
              <a:solidFill>
                <a:srgbClr val="FFFFFF"/>
              </a:solidFill>
            </a:endParaRPr>
          </a:p>
        </p:txBody>
      </p:sp>
      <p:sp>
        <p:nvSpPr>
          <p:cNvPr id="458" name="Google Shape;458;p43"/>
          <p:cNvSpPr txBox="1"/>
          <p:nvPr/>
        </p:nvSpPr>
        <p:spPr>
          <a:xfrm>
            <a:off x="6464300" y="2603500"/>
            <a:ext cx="231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70">
                <a:solidFill>
                  <a:srgbClr val="121F2E"/>
                </a:solidFill>
              </a:rPr>
              <a:t>地址类型结构不符合普通终端公网流量直觉，可能包含合成、脱敏或特殊编码，但当前无法定因。</a:t>
            </a:r>
            <a:endParaRPr sz="970">
              <a:solidFill>
                <a:srgbClr val="121F2E"/>
              </a:solidFill>
            </a:endParaRPr>
          </a:p>
        </p:txBody>
      </p:sp>
      <p:sp>
        <p:nvSpPr>
          <p:cNvPr id="459" name="Google Shape;459;p43"/>
          <p:cNvSpPr/>
          <p:nvPr/>
        </p:nvSpPr>
        <p:spPr>
          <a:xfrm>
            <a:off x="6324600" y="3340100"/>
            <a:ext cx="2603400" cy="1066800"/>
          </a:xfrm>
          <a:prstGeom prst="roundRect">
            <a:avLst>
              <a:gd fmla="val 16667" name="adj"/>
            </a:avLst>
          </a:prstGeom>
          <a:solidFill>
            <a:srgbClr val="F6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60" name="Google Shape;460;p43"/>
          <p:cNvSpPr/>
          <p:nvPr/>
        </p:nvSpPr>
        <p:spPr>
          <a:xfrm>
            <a:off x="6464300" y="3467100"/>
            <a:ext cx="482700" cy="228600"/>
          </a:xfrm>
          <a:prstGeom prst="roundRect">
            <a:avLst>
              <a:gd fmla="val 16667" name="adj"/>
            </a:avLst>
          </a:prstGeom>
          <a:solidFill>
            <a:srgbClr val="1C85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61" name="Google Shape;461;p43"/>
          <p:cNvSpPr txBox="1"/>
          <p:nvPr/>
        </p:nvSpPr>
        <p:spPr>
          <a:xfrm>
            <a:off x="6464300" y="3467100"/>
            <a:ext cx="482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rgbClr val="FFFFFF"/>
                </a:solidFill>
              </a:rPr>
              <a:t>建议</a:t>
            </a:r>
            <a:endParaRPr b="1" sz="950">
              <a:solidFill>
                <a:srgbClr val="FFFFFF"/>
              </a:solidFill>
            </a:endParaRPr>
          </a:p>
        </p:txBody>
      </p:sp>
      <p:sp>
        <p:nvSpPr>
          <p:cNvPr id="462" name="Google Shape;462;p43"/>
          <p:cNvSpPr txBox="1"/>
          <p:nvPr/>
        </p:nvSpPr>
        <p:spPr>
          <a:xfrm>
            <a:off x="6464300" y="3771900"/>
            <a:ext cx="231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70">
                <a:solidFill>
                  <a:srgbClr val="121F2E"/>
                </a:solidFill>
              </a:rPr>
              <a:t>保留类型字段做质量门控；GeoIP 仅查公网候选；与生成规则和字段来源负责人核实。</a:t>
            </a:r>
            <a:endParaRPr sz="970">
              <a:solidFill>
                <a:srgbClr val="121F2E"/>
              </a:solidFill>
            </a:endParaRPr>
          </a:p>
        </p:txBody>
      </p:sp>
      <p:sp>
        <p:nvSpPr>
          <p:cNvPr id="463" name="Google Shape;463;p43"/>
          <p:cNvSpPr txBox="1"/>
          <p:nvPr/>
        </p:nvSpPr>
        <p:spPr>
          <a:xfrm>
            <a:off x="330200" y="4787900"/>
            <a:ext cx="80646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70">
                <a:solidFill>
                  <a:srgbClr val="596375"/>
                </a:solidFill>
              </a:rPr>
              <a:t>来源：本地样本；Python ipaddress 地址属性。IPv4 50,004，IPv6 49,996。</a:t>
            </a:r>
            <a:endParaRPr sz="770">
              <a:solidFill>
                <a:srgbClr val="596375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4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69" name="Google Shape;469;p44"/>
          <p:cNvSpPr txBox="1"/>
          <p:nvPr/>
        </p:nvSpPr>
        <p:spPr>
          <a:xfrm>
            <a:off x="330200" y="190500"/>
            <a:ext cx="1333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50">
                <a:solidFill>
                  <a:srgbClr val="6E52C2"/>
                </a:solidFill>
              </a:rPr>
              <a:t>03 可视化与分析</a:t>
            </a:r>
            <a:endParaRPr b="1" sz="850">
              <a:solidFill>
                <a:srgbClr val="6E52C2"/>
              </a:solidFill>
            </a:endParaRPr>
          </a:p>
        </p:txBody>
      </p:sp>
      <p:sp>
        <p:nvSpPr>
          <p:cNvPr id="470" name="Google Shape;470;p44"/>
          <p:cNvSpPr txBox="1"/>
          <p:nvPr/>
        </p:nvSpPr>
        <p:spPr>
          <a:xfrm>
            <a:off x="330200" y="406400"/>
            <a:ext cx="838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121F2E"/>
                </a:solidFill>
              </a:rPr>
              <a:t>3.3 IP地址：</a:t>
            </a:r>
            <a:r>
              <a:rPr b="1" lang="en" sz="2300">
                <a:solidFill>
                  <a:srgbClr val="121F2E"/>
                </a:solidFill>
              </a:rPr>
              <a:t>ASN 信息</a:t>
            </a:r>
            <a:endParaRPr b="1" sz="2300">
              <a:solidFill>
                <a:srgbClr val="121F2E"/>
              </a:solidFill>
            </a:endParaRPr>
          </a:p>
        </p:txBody>
      </p:sp>
      <p:sp>
        <p:nvSpPr>
          <p:cNvPr id="471" name="Google Shape;471;p44"/>
          <p:cNvSpPr/>
          <p:nvPr/>
        </p:nvSpPr>
        <p:spPr>
          <a:xfrm>
            <a:off x="330200" y="889000"/>
            <a:ext cx="812700" cy="38100"/>
          </a:xfrm>
          <a:prstGeom prst="rect">
            <a:avLst/>
          </a:prstGeom>
          <a:solidFill>
            <a:srgbClr val="6E52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472" name="Google Shape;472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000" y="992065"/>
            <a:ext cx="6070599" cy="3502269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44"/>
          <p:cNvSpPr/>
          <p:nvPr/>
        </p:nvSpPr>
        <p:spPr>
          <a:xfrm>
            <a:off x="6324600" y="1003300"/>
            <a:ext cx="2603400" cy="1066800"/>
          </a:xfrm>
          <a:prstGeom prst="roundRect">
            <a:avLst>
              <a:gd fmla="val 16667" name="adj"/>
            </a:avLst>
          </a:prstGeom>
          <a:solidFill>
            <a:srgbClr val="F6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74" name="Google Shape;474;p44"/>
          <p:cNvSpPr/>
          <p:nvPr/>
        </p:nvSpPr>
        <p:spPr>
          <a:xfrm>
            <a:off x="6464300" y="1130300"/>
            <a:ext cx="482700" cy="228600"/>
          </a:xfrm>
          <a:prstGeom prst="roundRect">
            <a:avLst>
              <a:gd fmla="val 16667" name="adj"/>
            </a:avLst>
          </a:prstGeom>
          <a:solidFill>
            <a:srgbClr val="3D7A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75" name="Google Shape;475;p44"/>
          <p:cNvSpPr txBox="1"/>
          <p:nvPr/>
        </p:nvSpPr>
        <p:spPr>
          <a:xfrm>
            <a:off x="6464300" y="1130300"/>
            <a:ext cx="482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rgbClr val="FFFFFF"/>
                </a:solidFill>
              </a:rPr>
              <a:t>分析</a:t>
            </a:r>
            <a:endParaRPr b="1" sz="950">
              <a:solidFill>
                <a:srgbClr val="FFFFFF"/>
              </a:solidFill>
            </a:endParaRPr>
          </a:p>
        </p:txBody>
      </p:sp>
      <p:sp>
        <p:nvSpPr>
          <p:cNvPr id="476" name="Google Shape;476;p44"/>
          <p:cNvSpPr txBox="1"/>
          <p:nvPr/>
        </p:nvSpPr>
        <p:spPr>
          <a:xfrm>
            <a:off x="6464300" y="1435100"/>
            <a:ext cx="231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70">
                <a:solidFill>
                  <a:srgbClr val="121F2E"/>
                </a:solidFill>
              </a:rPr>
              <a:t>35,289 条匹配 ASN；AS749 DNIC 占 6.99%，AS4134 CHINANET 3.38%，AS7018 AT&amp;T 3.23%。</a:t>
            </a:r>
            <a:endParaRPr sz="970">
              <a:solidFill>
                <a:srgbClr val="121F2E"/>
              </a:solidFill>
            </a:endParaRPr>
          </a:p>
        </p:txBody>
      </p:sp>
      <p:sp>
        <p:nvSpPr>
          <p:cNvPr id="477" name="Google Shape;477;p44"/>
          <p:cNvSpPr/>
          <p:nvPr/>
        </p:nvSpPr>
        <p:spPr>
          <a:xfrm>
            <a:off x="6324600" y="2171700"/>
            <a:ext cx="2603400" cy="1066800"/>
          </a:xfrm>
          <a:prstGeom prst="roundRect">
            <a:avLst>
              <a:gd fmla="val 16667" name="adj"/>
            </a:avLst>
          </a:prstGeom>
          <a:solidFill>
            <a:srgbClr val="F6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78" name="Google Shape;478;p44"/>
          <p:cNvSpPr/>
          <p:nvPr/>
        </p:nvSpPr>
        <p:spPr>
          <a:xfrm>
            <a:off x="6464300" y="2298700"/>
            <a:ext cx="482700" cy="228600"/>
          </a:xfrm>
          <a:prstGeom prst="roundRect">
            <a:avLst>
              <a:gd fmla="val 16667" name="adj"/>
            </a:avLst>
          </a:prstGeom>
          <a:solidFill>
            <a:srgbClr val="6E52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79" name="Google Shape;479;p44"/>
          <p:cNvSpPr txBox="1"/>
          <p:nvPr/>
        </p:nvSpPr>
        <p:spPr>
          <a:xfrm>
            <a:off x="6464300" y="2298700"/>
            <a:ext cx="482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rgbClr val="FFFFFF"/>
                </a:solidFill>
              </a:rPr>
              <a:t>结论</a:t>
            </a:r>
            <a:endParaRPr b="1" sz="950">
              <a:solidFill>
                <a:srgbClr val="FFFFFF"/>
              </a:solidFill>
            </a:endParaRPr>
          </a:p>
        </p:txBody>
      </p:sp>
      <p:sp>
        <p:nvSpPr>
          <p:cNvPr id="480" name="Google Shape;480;p44"/>
          <p:cNvSpPr txBox="1"/>
          <p:nvPr/>
        </p:nvSpPr>
        <p:spPr>
          <a:xfrm>
            <a:off x="6464300" y="2603500"/>
            <a:ext cx="231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70">
                <a:solidFill>
                  <a:srgbClr val="121F2E"/>
                </a:solidFill>
              </a:rPr>
              <a:t>主要ASN包含中美的国防、固网与云网络。</a:t>
            </a:r>
            <a:endParaRPr sz="970">
              <a:solidFill>
                <a:srgbClr val="121F2E"/>
              </a:solidFill>
            </a:endParaRPr>
          </a:p>
        </p:txBody>
      </p:sp>
      <p:sp>
        <p:nvSpPr>
          <p:cNvPr id="481" name="Google Shape;481;p44"/>
          <p:cNvSpPr/>
          <p:nvPr/>
        </p:nvSpPr>
        <p:spPr>
          <a:xfrm>
            <a:off x="6324600" y="3340100"/>
            <a:ext cx="2603400" cy="1066800"/>
          </a:xfrm>
          <a:prstGeom prst="roundRect">
            <a:avLst>
              <a:gd fmla="val 16667" name="adj"/>
            </a:avLst>
          </a:prstGeom>
          <a:solidFill>
            <a:srgbClr val="F6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82" name="Google Shape;482;p44"/>
          <p:cNvSpPr/>
          <p:nvPr/>
        </p:nvSpPr>
        <p:spPr>
          <a:xfrm>
            <a:off x="6464300" y="3467100"/>
            <a:ext cx="482700" cy="228600"/>
          </a:xfrm>
          <a:prstGeom prst="roundRect">
            <a:avLst>
              <a:gd fmla="val 16667" name="adj"/>
            </a:avLst>
          </a:prstGeom>
          <a:solidFill>
            <a:srgbClr val="1C85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83" name="Google Shape;483;p44"/>
          <p:cNvSpPr txBox="1"/>
          <p:nvPr/>
        </p:nvSpPr>
        <p:spPr>
          <a:xfrm>
            <a:off x="6464300" y="3467100"/>
            <a:ext cx="482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rgbClr val="FFFFFF"/>
                </a:solidFill>
              </a:rPr>
              <a:t>建议</a:t>
            </a:r>
            <a:endParaRPr b="1" sz="950">
              <a:solidFill>
                <a:srgbClr val="FFFFFF"/>
              </a:solidFill>
            </a:endParaRPr>
          </a:p>
        </p:txBody>
      </p:sp>
      <p:sp>
        <p:nvSpPr>
          <p:cNvPr id="484" name="Google Shape;484;p44"/>
          <p:cNvSpPr txBox="1"/>
          <p:nvPr/>
        </p:nvSpPr>
        <p:spPr>
          <a:xfrm>
            <a:off x="6464300" y="3771900"/>
            <a:ext cx="231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70">
                <a:solidFill>
                  <a:srgbClr val="121F2E"/>
                </a:solidFill>
              </a:rPr>
              <a:t>尝试探索用户使用的网络实体。</a:t>
            </a:r>
            <a:endParaRPr sz="970">
              <a:solidFill>
                <a:srgbClr val="121F2E"/>
              </a:solidFill>
            </a:endParaRPr>
          </a:p>
        </p:txBody>
      </p:sp>
      <p:sp>
        <p:nvSpPr>
          <p:cNvPr id="485" name="Google Shape;485;p44"/>
          <p:cNvSpPr txBox="1"/>
          <p:nvPr/>
        </p:nvSpPr>
        <p:spPr>
          <a:xfrm>
            <a:off x="330200" y="4787900"/>
            <a:ext cx="80646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70">
                <a:solidFill>
                  <a:srgbClr val="596375"/>
                </a:solidFill>
              </a:rPr>
              <a:t>来源：CAIDA Routeviews Prefix-to-AS 2022-12-15；最长前缀匹配。</a:t>
            </a:r>
            <a:endParaRPr sz="770">
              <a:solidFill>
                <a:srgbClr val="596375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4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91" name="Google Shape;491;p45"/>
          <p:cNvSpPr txBox="1"/>
          <p:nvPr/>
        </p:nvSpPr>
        <p:spPr>
          <a:xfrm>
            <a:off x="330200" y="190500"/>
            <a:ext cx="1333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50">
                <a:solidFill>
                  <a:srgbClr val="6E52C2"/>
                </a:solidFill>
              </a:rPr>
              <a:t>03 可视化与分析</a:t>
            </a:r>
            <a:endParaRPr b="1" sz="850">
              <a:solidFill>
                <a:srgbClr val="6E52C2"/>
              </a:solidFill>
            </a:endParaRPr>
          </a:p>
        </p:txBody>
      </p:sp>
      <p:sp>
        <p:nvSpPr>
          <p:cNvPr id="492" name="Google Shape;492;p45"/>
          <p:cNvSpPr txBox="1"/>
          <p:nvPr/>
        </p:nvSpPr>
        <p:spPr>
          <a:xfrm>
            <a:off x="330200" y="406400"/>
            <a:ext cx="838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121F2E"/>
                </a:solidFill>
              </a:rPr>
              <a:t>3.4 User Agent：</a:t>
            </a:r>
            <a:r>
              <a:rPr b="1" lang="en" sz="2300">
                <a:solidFill>
                  <a:srgbClr val="121F2E"/>
                </a:solidFill>
              </a:rPr>
              <a:t>Android 占全部记录的 94.41%</a:t>
            </a:r>
            <a:endParaRPr b="1" sz="2300">
              <a:solidFill>
                <a:srgbClr val="121F2E"/>
              </a:solidFill>
            </a:endParaRPr>
          </a:p>
        </p:txBody>
      </p:sp>
      <p:sp>
        <p:nvSpPr>
          <p:cNvPr id="493" name="Google Shape;493;p45"/>
          <p:cNvSpPr/>
          <p:nvPr/>
        </p:nvSpPr>
        <p:spPr>
          <a:xfrm>
            <a:off x="330200" y="889000"/>
            <a:ext cx="812700" cy="38100"/>
          </a:xfrm>
          <a:prstGeom prst="rect">
            <a:avLst/>
          </a:prstGeom>
          <a:solidFill>
            <a:srgbClr val="6E52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494" name="Google Shape;494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000" y="1099079"/>
            <a:ext cx="6070599" cy="3288241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45"/>
          <p:cNvSpPr/>
          <p:nvPr/>
        </p:nvSpPr>
        <p:spPr>
          <a:xfrm>
            <a:off x="6324600" y="1003300"/>
            <a:ext cx="2603400" cy="1066800"/>
          </a:xfrm>
          <a:prstGeom prst="roundRect">
            <a:avLst>
              <a:gd fmla="val 16667" name="adj"/>
            </a:avLst>
          </a:prstGeom>
          <a:solidFill>
            <a:srgbClr val="F6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96" name="Google Shape;496;p45"/>
          <p:cNvSpPr/>
          <p:nvPr/>
        </p:nvSpPr>
        <p:spPr>
          <a:xfrm>
            <a:off x="6464300" y="1130300"/>
            <a:ext cx="482700" cy="228600"/>
          </a:xfrm>
          <a:prstGeom prst="roundRect">
            <a:avLst>
              <a:gd fmla="val 16667" name="adj"/>
            </a:avLst>
          </a:prstGeom>
          <a:solidFill>
            <a:srgbClr val="3D7A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97" name="Google Shape;497;p45"/>
          <p:cNvSpPr txBox="1"/>
          <p:nvPr/>
        </p:nvSpPr>
        <p:spPr>
          <a:xfrm>
            <a:off x="6464300" y="1130300"/>
            <a:ext cx="482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rgbClr val="FFFFFF"/>
                </a:solidFill>
              </a:rPr>
              <a:t>分析</a:t>
            </a:r>
            <a:endParaRPr b="1" sz="950">
              <a:solidFill>
                <a:srgbClr val="FFFFFF"/>
              </a:solidFill>
            </a:endParaRPr>
          </a:p>
        </p:txBody>
      </p:sp>
      <p:sp>
        <p:nvSpPr>
          <p:cNvPr id="498" name="Google Shape;498;p45"/>
          <p:cNvSpPr txBox="1"/>
          <p:nvPr/>
        </p:nvSpPr>
        <p:spPr>
          <a:xfrm>
            <a:off x="6464300" y="1435100"/>
            <a:ext cx="231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70">
                <a:solidFill>
                  <a:srgbClr val="121F2E"/>
                </a:solidFill>
              </a:rPr>
              <a:t>Android 94,410 条；iOS 3,664 条；Unresolved / missing 1,911 条；Mac OS X 15 条。</a:t>
            </a:r>
            <a:endParaRPr sz="970">
              <a:solidFill>
                <a:srgbClr val="121F2E"/>
              </a:solidFill>
            </a:endParaRPr>
          </a:p>
        </p:txBody>
      </p:sp>
      <p:sp>
        <p:nvSpPr>
          <p:cNvPr id="499" name="Google Shape;499;p45"/>
          <p:cNvSpPr/>
          <p:nvPr/>
        </p:nvSpPr>
        <p:spPr>
          <a:xfrm>
            <a:off x="6324600" y="2171700"/>
            <a:ext cx="2603400" cy="1066800"/>
          </a:xfrm>
          <a:prstGeom prst="roundRect">
            <a:avLst>
              <a:gd fmla="val 16667" name="adj"/>
            </a:avLst>
          </a:prstGeom>
          <a:solidFill>
            <a:srgbClr val="F6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00" name="Google Shape;500;p45"/>
          <p:cNvSpPr/>
          <p:nvPr/>
        </p:nvSpPr>
        <p:spPr>
          <a:xfrm>
            <a:off x="6464300" y="2298700"/>
            <a:ext cx="482700" cy="228600"/>
          </a:xfrm>
          <a:prstGeom prst="roundRect">
            <a:avLst>
              <a:gd fmla="val 16667" name="adj"/>
            </a:avLst>
          </a:prstGeom>
          <a:solidFill>
            <a:srgbClr val="6E52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01" name="Google Shape;501;p45"/>
          <p:cNvSpPr txBox="1"/>
          <p:nvPr/>
        </p:nvSpPr>
        <p:spPr>
          <a:xfrm>
            <a:off x="6464300" y="2298700"/>
            <a:ext cx="482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rgbClr val="FFFFFF"/>
                </a:solidFill>
              </a:rPr>
              <a:t>结论</a:t>
            </a:r>
            <a:endParaRPr b="1" sz="950">
              <a:solidFill>
                <a:srgbClr val="FFFFFF"/>
              </a:solidFill>
            </a:endParaRPr>
          </a:p>
        </p:txBody>
      </p:sp>
      <p:sp>
        <p:nvSpPr>
          <p:cNvPr id="502" name="Google Shape;502;p45"/>
          <p:cNvSpPr txBox="1"/>
          <p:nvPr/>
        </p:nvSpPr>
        <p:spPr>
          <a:xfrm>
            <a:off x="6464300" y="2603500"/>
            <a:ext cx="231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70">
                <a:solidFill>
                  <a:srgbClr val="121F2E"/>
                </a:solidFill>
              </a:rPr>
              <a:t>样本几乎完全是移动 Android 环境。未知比例主要由 1,909 条原始 UA 空值构成。</a:t>
            </a:r>
            <a:endParaRPr sz="970">
              <a:solidFill>
                <a:srgbClr val="121F2E"/>
              </a:solidFill>
            </a:endParaRPr>
          </a:p>
        </p:txBody>
      </p:sp>
      <p:sp>
        <p:nvSpPr>
          <p:cNvPr id="503" name="Google Shape;503;p45"/>
          <p:cNvSpPr/>
          <p:nvPr/>
        </p:nvSpPr>
        <p:spPr>
          <a:xfrm>
            <a:off x="6324600" y="3340100"/>
            <a:ext cx="2603400" cy="1066800"/>
          </a:xfrm>
          <a:prstGeom prst="roundRect">
            <a:avLst>
              <a:gd fmla="val 16667" name="adj"/>
            </a:avLst>
          </a:prstGeom>
          <a:solidFill>
            <a:srgbClr val="F6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04" name="Google Shape;504;p45"/>
          <p:cNvSpPr/>
          <p:nvPr/>
        </p:nvSpPr>
        <p:spPr>
          <a:xfrm>
            <a:off x="6464300" y="3467100"/>
            <a:ext cx="482700" cy="228600"/>
          </a:xfrm>
          <a:prstGeom prst="roundRect">
            <a:avLst>
              <a:gd fmla="val 16667" name="adj"/>
            </a:avLst>
          </a:prstGeom>
          <a:solidFill>
            <a:srgbClr val="1C85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05" name="Google Shape;505;p45"/>
          <p:cNvSpPr txBox="1"/>
          <p:nvPr/>
        </p:nvSpPr>
        <p:spPr>
          <a:xfrm>
            <a:off x="6464300" y="3467100"/>
            <a:ext cx="482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rgbClr val="FFFFFF"/>
                </a:solidFill>
              </a:rPr>
              <a:t>建议</a:t>
            </a:r>
            <a:endParaRPr b="1" sz="950">
              <a:solidFill>
                <a:srgbClr val="FFFFFF"/>
              </a:solidFill>
            </a:endParaRPr>
          </a:p>
        </p:txBody>
      </p:sp>
      <p:sp>
        <p:nvSpPr>
          <p:cNvPr id="506" name="Google Shape;506;p45"/>
          <p:cNvSpPr txBox="1"/>
          <p:nvPr/>
        </p:nvSpPr>
        <p:spPr>
          <a:xfrm>
            <a:off x="6464300" y="3771900"/>
            <a:ext cx="231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70">
                <a:solidFill>
                  <a:srgbClr val="121F2E"/>
                </a:solidFill>
              </a:rPr>
              <a:t>Android-first 设计兼容和 QA；iOS 保留独立分析；把 UA 缺失率纳入采集质量指标。</a:t>
            </a:r>
            <a:endParaRPr sz="970">
              <a:solidFill>
                <a:srgbClr val="121F2E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4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12" name="Google Shape;512;p46"/>
          <p:cNvSpPr txBox="1"/>
          <p:nvPr/>
        </p:nvSpPr>
        <p:spPr>
          <a:xfrm>
            <a:off x="330200" y="190500"/>
            <a:ext cx="1333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50">
                <a:solidFill>
                  <a:srgbClr val="6E52C2"/>
                </a:solidFill>
              </a:rPr>
              <a:t>03 可视化与分析</a:t>
            </a:r>
            <a:endParaRPr b="1" sz="850">
              <a:solidFill>
                <a:srgbClr val="6E52C2"/>
              </a:solidFill>
            </a:endParaRPr>
          </a:p>
        </p:txBody>
      </p:sp>
      <p:sp>
        <p:nvSpPr>
          <p:cNvPr id="513" name="Google Shape;513;p46"/>
          <p:cNvSpPr txBox="1"/>
          <p:nvPr/>
        </p:nvSpPr>
        <p:spPr>
          <a:xfrm>
            <a:off x="330200" y="406400"/>
            <a:ext cx="838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121F2E"/>
                </a:solidFill>
              </a:rPr>
              <a:t>3.4 User Agent：</a:t>
            </a:r>
            <a:r>
              <a:rPr b="1" lang="en" sz="2300">
                <a:solidFill>
                  <a:srgbClr val="121F2E"/>
                </a:solidFill>
              </a:rPr>
              <a:t>Android 版本更分散，iOS 更集中</a:t>
            </a:r>
            <a:endParaRPr b="1" sz="2300">
              <a:solidFill>
                <a:srgbClr val="121F2E"/>
              </a:solidFill>
            </a:endParaRPr>
          </a:p>
        </p:txBody>
      </p:sp>
      <p:sp>
        <p:nvSpPr>
          <p:cNvPr id="514" name="Google Shape;514;p46"/>
          <p:cNvSpPr/>
          <p:nvPr/>
        </p:nvSpPr>
        <p:spPr>
          <a:xfrm>
            <a:off x="330200" y="889000"/>
            <a:ext cx="812700" cy="38100"/>
          </a:xfrm>
          <a:prstGeom prst="rect">
            <a:avLst/>
          </a:prstGeom>
          <a:solidFill>
            <a:srgbClr val="6E52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515" name="Google Shape;515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000" y="992065"/>
            <a:ext cx="6070599" cy="3502269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p46"/>
          <p:cNvSpPr/>
          <p:nvPr/>
        </p:nvSpPr>
        <p:spPr>
          <a:xfrm>
            <a:off x="6324600" y="1003300"/>
            <a:ext cx="2603400" cy="1066800"/>
          </a:xfrm>
          <a:prstGeom prst="roundRect">
            <a:avLst>
              <a:gd fmla="val 16667" name="adj"/>
            </a:avLst>
          </a:prstGeom>
          <a:solidFill>
            <a:srgbClr val="F6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17" name="Google Shape;517;p46"/>
          <p:cNvSpPr/>
          <p:nvPr/>
        </p:nvSpPr>
        <p:spPr>
          <a:xfrm>
            <a:off x="6464300" y="1130300"/>
            <a:ext cx="482700" cy="228600"/>
          </a:xfrm>
          <a:prstGeom prst="roundRect">
            <a:avLst>
              <a:gd fmla="val 16667" name="adj"/>
            </a:avLst>
          </a:prstGeom>
          <a:solidFill>
            <a:srgbClr val="3D7A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18" name="Google Shape;518;p46"/>
          <p:cNvSpPr txBox="1"/>
          <p:nvPr/>
        </p:nvSpPr>
        <p:spPr>
          <a:xfrm>
            <a:off x="6464300" y="1130300"/>
            <a:ext cx="482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rgbClr val="FFFFFF"/>
                </a:solidFill>
              </a:rPr>
              <a:t>分析</a:t>
            </a:r>
            <a:endParaRPr b="1" sz="950">
              <a:solidFill>
                <a:srgbClr val="FFFFFF"/>
              </a:solidFill>
            </a:endParaRPr>
          </a:p>
        </p:txBody>
      </p:sp>
      <p:sp>
        <p:nvSpPr>
          <p:cNvPr id="519" name="Google Shape;519;p46"/>
          <p:cNvSpPr txBox="1"/>
          <p:nvPr/>
        </p:nvSpPr>
        <p:spPr>
          <a:xfrm>
            <a:off x="6464300" y="1435100"/>
            <a:ext cx="231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70">
                <a:solidFill>
                  <a:srgbClr val="121F2E"/>
                </a:solidFill>
              </a:rPr>
              <a:t>Android 12 占 35.89%、11 占 22.33%、13 占 16.28%；iOS 16 占 53.03%、15 占 37.85%。</a:t>
            </a:r>
            <a:endParaRPr sz="970">
              <a:solidFill>
                <a:srgbClr val="121F2E"/>
              </a:solidFill>
            </a:endParaRPr>
          </a:p>
        </p:txBody>
      </p:sp>
      <p:sp>
        <p:nvSpPr>
          <p:cNvPr id="520" name="Google Shape;520;p46"/>
          <p:cNvSpPr/>
          <p:nvPr/>
        </p:nvSpPr>
        <p:spPr>
          <a:xfrm>
            <a:off x="6324600" y="2171700"/>
            <a:ext cx="2603400" cy="1066800"/>
          </a:xfrm>
          <a:prstGeom prst="roundRect">
            <a:avLst>
              <a:gd fmla="val 16667" name="adj"/>
            </a:avLst>
          </a:prstGeom>
          <a:solidFill>
            <a:srgbClr val="F6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21" name="Google Shape;521;p46"/>
          <p:cNvSpPr/>
          <p:nvPr/>
        </p:nvSpPr>
        <p:spPr>
          <a:xfrm>
            <a:off x="6464300" y="2298700"/>
            <a:ext cx="482700" cy="228600"/>
          </a:xfrm>
          <a:prstGeom prst="roundRect">
            <a:avLst>
              <a:gd fmla="val 16667" name="adj"/>
            </a:avLst>
          </a:prstGeom>
          <a:solidFill>
            <a:srgbClr val="6E52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22" name="Google Shape;522;p46"/>
          <p:cNvSpPr txBox="1"/>
          <p:nvPr/>
        </p:nvSpPr>
        <p:spPr>
          <a:xfrm>
            <a:off x="6464300" y="2298700"/>
            <a:ext cx="482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rgbClr val="FFFFFF"/>
                </a:solidFill>
              </a:rPr>
              <a:t>结论</a:t>
            </a:r>
            <a:endParaRPr b="1" sz="950">
              <a:solidFill>
                <a:srgbClr val="FFFFFF"/>
              </a:solidFill>
            </a:endParaRPr>
          </a:p>
        </p:txBody>
      </p:sp>
      <p:sp>
        <p:nvSpPr>
          <p:cNvPr id="523" name="Google Shape;523;p46"/>
          <p:cNvSpPr txBox="1"/>
          <p:nvPr/>
        </p:nvSpPr>
        <p:spPr>
          <a:xfrm>
            <a:off x="6464300" y="2603500"/>
            <a:ext cx="231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70">
                <a:solidFill>
                  <a:srgbClr val="121F2E"/>
                </a:solidFill>
              </a:rPr>
              <a:t>Android 覆盖更多旧版本；iOS 样本主要集中在两个主版本。</a:t>
            </a:r>
            <a:endParaRPr sz="970">
              <a:solidFill>
                <a:srgbClr val="121F2E"/>
              </a:solidFill>
            </a:endParaRPr>
          </a:p>
        </p:txBody>
      </p:sp>
      <p:sp>
        <p:nvSpPr>
          <p:cNvPr id="524" name="Google Shape;524;p46"/>
          <p:cNvSpPr/>
          <p:nvPr/>
        </p:nvSpPr>
        <p:spPr>
          <a:xfrm>
            <a:off x="6324600" y="3340100"/>
            <a:ext cx="2603400" cy="1066800"/>
          </a:xfrm>
          <a:prstGeom prst="roundRect">
            <a:avLst>
              <a:gd fmla="val 16667" name="adj"/>
            </a:avLst>
          </a:prstGeom>
          <a:solidFill>
            <a:srgbClr val="F6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25" name="Google Shape;525;p46"/>
          <p:cNvSpPr/>
          <p:nvPr/>
        </p:nvSpPr>
        <p:spPr>
          <a:xfrm>
            <a:off x="6464300" y="3467100"/>
            <a:ext cx="482700" cy="228600"/>
          </a:xfrm>
          <a:prstGeom prst="roundRect">
            <a:avLst>
              <a:gd fmla="val 16667" name="adj"/>
            </a:avLst>
          </a:prstGeom>
          <a:solidFill>
            <a:srgbClr val="1C85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26" name="Google Shape;526;p46"/>
          <p:cNvSpPr txBox="1"/>
          <p:nvPr/>
        </p:nvSpPr>
        <p:spPr>
          <a:xfrm>
            <a:off x="6464300" y="3467100"/>
            <a:ext cx="482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rgbClr val="FFFFFF"/>
                </a:solidFill>
              </a:rPr>
              <a:t>建议</a:t>
            </a:r>
            <a:endParaRPr b="1" sz="950">
              <a:solidFill>
                <a:srgbClr val="FFFFFF"/>
              </a:solidFill>
            </a:endParaRPr>
          </a:p>
        </p:txBody>
      </p:sp>
      <p:sp>
        <p:nvSpPr>
          <p:cNvPr id="527" name="Google Shape;527;p46"/>
          <p:cNvSpPr txBox="1"/>
          <p:nvPr/>
        </p:nvSpPr>
        <p:spPr>
          <a:xfrm>
            <a:off x="6464300" y="3771900"/>
            <a:ext cx="231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70">
                <a:solidFill>
                  <a:srgbClr val="121F2E"/>
                </a:solidFill>
              </a:rPr>
              <a:t>建立版本兼容矩阵；补充发布时间与支持状态；按 OS 版本监控崩溃、转化和数据缺失。</a:t>
            </a:r>
            <a:endParaRPr sz="970">
              <a:solidFill>
                <a:srgbClr val="121F2E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4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33" name="Google Shape;533;p47"/>
          <p:cNvSpPr txBox="1"/>
          <p:nvPr/>
        </p:nvSpPr>
        <p:spPr>
          <a:xfrm>
            <a:off x="330200" y="190500"/>
            <a:ext cx="1333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50">
                <a:solidFill>
                  <a:srgbClr val="6E52C2"/>
                </a:solidFill>
              </a:rPr>
              <a:t>03 可视化与分析</a:t>
            </a:r>
            <a:endParaRPr b="1" sz="850">
              <a:solidFill>
                <a:srgbClr val="6E52C2"/>
              </a:solidFill>
            </a:endParaRPr>
          </a:p>
        </p:txBody>
      </p:sp>
      <p:sp>
        <p:nvSpPr>
          <p:cNvPr id="534" name="Google Shape;534;p47"/>
          <p:cNvSpPr txBox="1"/>
          <p:nvPr/>
        </p:nvSpPr>
        <p:spPr>
          <a:xfrm>
            <a:off x="330200" y="406400"/>
            <a:ext cx="838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121F2E"/>
                </a:solidFill>
              </a:rPr>
              <a:t>3.4 User Agent：</a:t>
            </a:r>
            <a:r>
              <a:rPr b="1" lang="en" sz="2300">
                <a:solidFill>
                  <a:srgbClr val="121F2E"/>
                </a:solidFill>
              </a:rPr>
              <a:t>主要市场的系统构成高度相似</a:t>
            </a:r>
            <a:endParaRPr b="1" sz="2300">
              <a:solidFill>
                <a:srgbClr val="121F2E"/>
              </a:solidFill>
            </a:endParaRPr>
          </a:p>
        </p:txBody>
      </p:sp>
      <p:sp>
        <p:nvSpPr>
          <p:cNvPr id="535" name="Google Shape;535;p47"/>
          <p:cNvSpPr/>
          <p:nvPr/>
        </p:nvSpPr>
        <p:spPr>
          <a:xfrm>
            <a:off x="330200" y="889000"/>
            <a:ext cx="812700" cy="38100"/>
          </a:xfrm>
          <a:prstGeom prst="rect">
            <a:avLst/>
          </a:prstGeom>
          <a:solidFill>
            <a:srgbClr val="6E52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536" name="Google Shape;536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000" y="992065"/>
            <a:ext cx="6070599" cy="3502269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47"/>
          <p:cNvSpPr/>
          <p:nvPr/>
        </p:nvSpPr>
        <p:spPr>
          <a:xfrm>
            <a:off x="6324600" y="1003300"/>
            <a:ext cx="2603400" cy="1066800"/>
          </a:xfrm>
          <a:prstGeom prst="roundRect">
            <a:avLst>
              <a:gd fmla="val 16667" name="adj"/>
            </a:avLst>
          </a:prstGeom>
          <a:solidFill>
            <a:srgbClr val="F6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38" name="Google Shape;538;p47"/>
          <p:cNvSpPr/>
          <p:nvPr/>
        </p:nvSpPr>
        <p:spPr>
          <a:xfrm>
            <a:off x="6464300" y="1130300"/>
            <a:ext cx="482700" cy="228600"/>
          </a:xfrm>
          <a:prstGeom prst="roundRect">
            <a:avLst>
              <a:gd fmla="val 16667" name="adj"/>
            </a:avLst>
          </a:prstGeom>
          <a:solidFill>
            <a:srgbClr val="3D7A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39" name="Google Shape;539;p47"/>
          <p:cNvSpPr txBox="1"/>
          <p:nvPr/>
        </p:nvSpPr>
        <p:spPr>
          <a:xfrm>
            <a:off x="6464300" y="1130300"/>
            <a:ext cx="482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rgbClr val="FFFFFF"/>
                </a:solidFill>
              </a:rPr>
              <a:t>分析</a:t>
            </a:r>
            <a:endParaRPr b="1" sz="950">
              <a:solidFill>
                <a:srgbClr val="FFFFFF"/>
              </a:solidFill>
            </a:endParaRPr>
          </a:p>
        </p:txBody>
      </p:sp>
      <p:sp>
        <p:nvSpPr>
          <p:cNvPr id="540" name="Google Shape;540;p47"/>
          <p:cNvSpPr txBox="1"/>
          <p:nvPr/>
        </p:nvSpPr>
        <p:spPr>
          <a:xfrm>
            <a:off x="6464300" y="1435100"/>
            <a:ext cx="231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70">
                <a:solidFill>
                  <a:srgbClr val="121F2E"/>
                </a:solidFill>
              </a:rPr>
              <a:t>日本、印尼、韩国、越南和泰国的 Android 均约 94%；iOS 约 3.27%–4.13%。</a:t>
            </a:r>
            <a:endParaRPr sz="970">
              <a:solidFill>
                <a:srgbClr val="121F2E"/>
              </a:solidFill>
            </a:endParaRPr>
          </a:p>
        </p:txBody>
      </p:sp>
      <p:sp>
        <p:nvSpPr>
          <p:cNvPr id="541" name="Google Shape;541;p47"/>
          <p:cNvSpPr/>
          <p:nvPr/>
        </p:nvSpPr>
        <p:spPr>
          <a:xfrm>
            <a:off x="6324600" y="2171700"/>
            <a:ext cx="2603400" cy="1066800"/>
          </a:xfrm>
          <a:prstGeom prst="roundRect">
            <a:avLst>
              <a:gd fmla="val 16667" name="adj"/>
            </a:avLst>
          </a:prstGeom>
          <a:solidFill>
            <a:srgbClr val="F6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42" name="Google Shape;542;p47"/>
          <p:cNvSpPr/>
          <p:nvPr/>
        </p:nvSpPr>
        <p:spPr>
          <a:xfrm>
            <a:off x="6464300" y="2298700"/>
            <a:ext cx="482700" cy="228600"/>
          </a:xfrm>
          <a:prstGeom prst="roundRect">
            <a:avLst>
              <a:gd fmla="val 16667" name="adj"/>
            </a:avLst>
          </a:prstGeom>
          <a:solidFill>
            <a:srgbClr val="6E52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43" name="Google Shape;543;p47"/>
          <p:cNvSpPr txBox="1"/>
          <p:nvPr/>
        </p:nvSpPr>
        <p:spPr>
          <a:xfrm>
            <a:off x="6464300" y="2298700"/>
            <a:ext cx="482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rgbClr val="FFFFFF"/>
                </a:solidFill>
              </a:rPr>
              <a:t>结论</a:t>
            </a:r>
            <a:endParaRPr b="1" sz="950">
              <a:solidFill>
                <a:srgbClr val="FFFFFF"/>
              </a:solidFill>
            </a:endParaRPr>
          </a:p>
        </p:txBody>
      </p:sp>
      <p:sp>
        <p:nvSpPr>
          <p:cNvPr id="544" name="Google Shape;544;p47"/>
          <p:cNvSpPr txBox="1"/>
          <p:nvPr/>
        </p:nvSpPr>
        <p:spPr>
          <a:xfrm>
            <a:off x="6464300" y="2603500"/>
            <a:ext cx="231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70">
                <a:solidFill>
                  <a:srgbClr val="121F2E"/>
                </a:solidFill>
              </a:rPr>
              <a:t>跨市场差异小于 Android 与 iOS 的总体差异，设备结构更像采集渠道特征，而非国家人口结构。</a:t>
            </a:r>
            <a:endParaRPr sz="970">
              <a:solidFill>
                <a:srgbClr val="121F2E"/>
              </a:solidFill>
            </a:endParaRPr>
          </a:p>
        </p:txBody>
      </p:sp>
      <p:sp>
        <p:nvSpPr>
          <p:cNvPr id="545" name="Google Shape;545;p47"/>
          <p:cNvSpPr/>
          <p:nvPr/>
        </p:nvSpPr>
        <p:spPr>
          <a:xfrm>
            <a:off x="6324600" y="3340100"/>
            <a:ext cx="2603400" cy="1066800"/>
          </a:xfrm>
          <a:prstGeom prst="roundRect">
            <a:avLst>
              <a:gd fmla="val 16667" name="adj"/>
            </a:avLst>
          </a:prstGeom>
          <a:solidFill>
            <a:srgbClr val="F6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46" name="Google Shape;546;p47"/>
          <p:cNvSpPr/>
          <p:nvPr/>
        </p:nvSpPr>
        <p:spPr>
          <a:xfrm>
            <a:off x="6464300" y="3467100"/>
            <a:ext cx="482700" cy="228600"/>
          </a:xfrm>
          <a:prstGeom prst="roundRect">
            <a:avLst>
              <a:gd fmla="val 16667" name="adj"/>
            </a:avLst>
          </a:prstGeom>
          <a:solidFill>
            <a:srgbClr val="1C85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47" name="Google Shape;547;p47"/>
          <p:cNvSpPr txBox="1"/>
          <p:nvPr/>
        </p:nvSpPr>
        <p:spPr>
          <a:xfrm>
            <a:off x="6464300" y="3467100"/>
            <a:ext cx="482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rgbClr val="FFFFFF"/>
                </a:solidFill>
              </a:rPr>
              <a:t>建议</a:t>
            </a:r>
            <a:endParaRPr b="1" sz="950">
              <a:solidFill>
                <a:srgbClr val="FFFFFF"/>
              </a:solidFill>
            </a:endParaRPr>
          </a:p>
        </p:txBody>
      </p:sp>
      <p:sp>
        <p:nvSpPr>
          <p:cNvPr id="548" name="Google Shape;548;p47"/>
          <p:cNvSpPr txBox="1"/>
          <p:nvPr/>
        </p:nvSpPr>
        <p:spPr>
          <a:xfrm>
            <a:off x="6464300" y="3771900"/>
            <a:ext cx="231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70">
                <a:solidFill>
                  <a:srgbClr val="121F2E"/>
                </a:solidFill>
              </a:rPr>
              <a:t>按来源/App/SDK 分层验证；Android 优先做兼容与素材测试；不要外推为各国真实手机市场份额。</a:t>
            </a:r>
            <a:endParaRPr sz="970">
              <a:solidFill>
                <a:srgbClr val="121F2E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4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54" name="Google Shape;554;p48"/>
          <p:cNvSpPr txBox="1"/>
          <p:nvPr/>
        </p:nvSpPr>
        <p:spPr>
          <a:xfrm>
            <a:off x="330200" y="190500"/>
            <a:ext cx="1333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50">
                <a:solidFill>
                  <a:srgbClr val="6E52C2"/>
                </a:solidFill>
              </a:rPr>
              <a:t>03 可视化与分析</a:t>
            </a:r>
            <a:endParaRPr b="1" sz="850">
              <a:solidFill>
                <a:srgbClr val="6E52C2"/>
              </a:solidFill>
            </a:endParaRPr>
          </a:p>
        </p:txBody>
      </p:sp>
      <p:sp>
        <p:nvSpPr>
          <p:cNvPr id="555" name="Google Shape;555;p48"/>
          <p:cNvSpPr txBox="1"/>
          <p:nvPr/>
        </p:nvSpPr>
        <p:spPr>
          <a:xfrm>
            <a:off x="330200" y="406400"/>
            <a:ext cx="838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121F2E"/>
                </a:solidFill>
              </a:rPr>
              <a:t>3.4 User Agent：</a:t>
            </a:r>
            <a:r>
              <a:rPr b="1" lang="en" sz="2300">
                <a:solidFill>
                  <a:srgbClr val="121F2E"/>
                </a:solidFill>
              </a:rPr>
              <a:t>访问环境以 Android WebView 为主</a:t>
            </a:r>
            <a:endParaRPr b="1" sz="2300">
              <a:solidFill>
                <a:srgbClr val="121F2E"/>
              </a:solidFill>
            </a:endParaRPr>
          </a:p>
        </p:txBody>
      </p:sp>
      <p:sp>
        <p:nvSpPr>
          <p:cNvPr id="556" name="Google Shape;556;p48"/>
          <p:cNvSpPr/>
          <p:nvPr/>
        </p:nvSpPr>
        <p:spPr>
          <a:xfrm>
            <a:off x="330200" y="889000"/>
            <a:ext cx="812700" cy="38100"/>
          </a:xfrm>
          <a:prstGeom prst="rect">
            <a:avLst/>
          </a:prstGeom>
          <a:solidFill>
            <a:srgbClr val="6E52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557" name="Google Shape;557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000" y="992065"/>
            <a:ext cx="6070599" cy="3502269"/>
          </a:xfrm>
          <a:prstGeom prst="rect">
            <a:avLst/>
          </a:prstGeom>
          <a:noFill/>
          <a:ln>
            <a:noFill/>
          </a:ln>
        </p:spPr>
      </p:pic>
      <p:sp>
        <p:nvSpPr>
          <p:cNvPr id="558" name="Google Shape;558;p48"/>
          <p:cNvSpPr/>
          <p:nvPr/>
        </p:nvSpPr>
        <p:spPr>
          <a:xfrm>
            <a:off x="6324600" y="1003300"/>
            <a:ext cx="2603400" cy="1066800"/>
          </a:xfrm>
          <a:prstGeom prst="roundRect">
            <a:avLst>
              <a:gd fmla="val 16667" name="adj"/>
            </a:avLst>
          </a:prstGeom>
          <a:solidFill>
            <a:srgbClr val="F6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59" name="Google Shape;559;p48"/>
          <p:cNvSpPr/>
          <p:nvPr/>
        </p:nvSpPr>
        <p:spPr>
          <a:xfrm>
            <a:off x="6464300" y="1130300"/>
            <a:ext cx="482700" cy="228600"/>
          </a:xfrm>
          <a:prstGeom prst="roundRect">
            <a:avLst>
              <a:gd fmla="val 16667" name="adj"/>
            </a:avLst>
          </a:prstGeom>
          <a:solidFill>
            <a:srgbClr val="3D7A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60" name="Google Shape;560;p48"/>
          <p:cNvSpPr txBox="1"/>
          <p:nvPr/>
        </p:nvSpPr>
        <p:spPr>
          <a:xfrm>
            <a:off x="6464300" y="1130300"/>
            <a:ext cx="482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rgbClr val="FFFFFF"/>
                </a:solidFill>
              </a:rPr>
              <a:t>分析</a:t>
            </a:r>
            <a:endParaRPr b="1" sz="950">
              <a:solidFill>
                <a:srgbClr val="FFFFFF"/>
              </a:solidFill>
            </a:endParaRPr>
          </a:p>
        </p:txBody>
      </p:sp>
      <p:sp>
        <p:nvSpPr>
          <p:cNvPr id="561" name="Google Shape;561;p48"/>
          <p:cNvSpPr txBox="1"/>
          <p:nvPr/>
        </p:nvSpPr>
        <p:spPr>
          <a:xfrm>
            <a:off x="6464300" y="1435100"/>
            <a:ext cx="231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70">
                <a:solidFill>
                  <a:srgbClr val="121F2E"/>
                </a:solidFill>
              </a:rPr>
              <a:t>显式 Android wv 占 87.88%；Dalvik 6.43%；仅解析器识别 WebView 3.72%；UA 缺失 1.91%。</a:t>
            </a:r>
            <a:endParaRPr sz="970">
              <a:solidFill>
                <a:srgbClr val="121F2E"/>
              </a:solidFill>
            </a:endParaRPr>
          </a:p>
        </p:txBody>
      </p:sp>
      <p:sp>
        <p:nvSpPr>
          <p:cNvPr id="562" name="Google Shape;562;p48"/>
          <p:cNvSpPr/>
          <p:nvPr/>
        </p:nvSpPr>
        <p:spPr>
          <a:xfrm>
            <a:off x="6324600" y="2171700"/>
            <a:ext cx="2603400" cy="1066800"/>
          </a:xfrm>
          <a:prstGeom prst="roundRect">
            <a:avLst>
              <a:gd fmla="val 16667" name="adj"/>
            </a:avLst>
          </a:prstGeom>
          <a:solidFill>
            <a:srgbClr val="F6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63" name="Google Shape;563;p48"/>
          <p:cNvSpPr/>
          <p:nvPr/>
        </p:nvSpPr>
        <p:spPr>
          <a:xfrm>
            <a:off x="6464300" y="2298700"/>
            <a:ext cx="482700" cy="228600"/>
          </a:xfrm>
          <a:prstGeom prst="roundRect">
            <a:avLst>
              <a:gd fmla="val 16667" name="adj"/>
            </a:avLst>
          </a:prstGeom>
          <a:solidFill>
            <a:srgbClr val="6E52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64" name="Google Shape;564;p48"/>
          <p:cNvSpPr txBox="1"/>
          <p:nvPr/>
        </p:nvSpPr>
        <p:spPr>
          <a:xfrm>
            <a:off x="6464300" y="2298700"/>
            <a:ext cx="482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rgbClr val="FFFFFF"/>
                </a:solidFill>
              </a:rPr>
              <a:t>结论</a:t>
            </a:r>
            <a:endParaRPr b="1" sz="950">
              <a:solidFill>
                <a:srgbClr val="FFFFFF"/>
              </a:solidFill>
            </a:endParaRPr>
          </a:p>
        </p:txBody>
      </p:sp>
      <p:sp>
        <p:nvSpPr>
          <p:cNvPr id="565" name="Google Shape;565;p48"/>
          <p:cNvSpPr txBox="1"/>
          <p:nvPr/>
        </p:nvSpPr>
        <p:spPr>
          <a:xfrm>
            <a:off x="6464300" y="2603500"/>
            <a:ext cx="231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70">
                <a:solidFill>
                  <a:srgbClr val="121F2E"/>
                </a:solidFill>
              </a:rPr>
              <a:t>多数事件像是 App 内嵌网页或 Android 运行时请求，而不是常规桌面浏览器访问。</a:t>
            </a:r>
            <a:endParaRPr sz="970">
              <a:solidFill>
                <a:srgbClr val="121F2E"/>
              </a:solidFill>
            </a:endParaRPr>
          </a:p>
        </p:txBody>
      </p:sp>
      <p:sp>
        <p:nvSpPr>
          <p:cNvPr id="566" name="Google Shape;566;p48"/>
          <p:cNvSpPr/>
          <p:nvPr/>
        </p:nvSpPr>
        <p:spPr>
          <a:xfrm>
            <a:off x="6324600" y="3340100"/>
            <a:ext cx="2603400" cy="1066800"/>
          </a:xfrm>
          <a:prstGeom prst="roundRect">
            <a:avLst>
              <a:gd fmla="val 16667" name="adj"/>
            </a:avLst>
          </a:prstGeom>
          <a:solidFill>
            <a:srgbClr val="F6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67" name="Google Shape;567;p48"/>
          <p:cNvSpPr/>
          <p:nvPr/>
        </p:nvSpPr>
        <p:spPr>
          <a:xfrm>
            <a:off x="6464300" y="3467100"/>
            <a:ext cx="482700" cy="228600"/>
          </a:xfrm>
          <a:prstGeom prst="roundRect">
            <a:avLst>
              <a:gd fmla="val 16667" name="adj"/>
            </a:avLst>
          </a:prstGeom>
          <a:solidFill>
            <a:srgbClr val="1C85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68" name="Google Shape;568;p48"/>
          <p:cNvSpPr txBox="1"/>
          <p:nvPr/>
        </p:nvSpPr>
        <p:spPr>
          <a:xfrm>
            <a:off x="6464300" y="3467100"/>
            <a:ext cx="482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rgbClr val="FFFFFF"/>
                </a:solidFill>
              </a:rPr>
              <a:t>建议</a:t>
            </a:r>
            <a:endParaRPr b="1" sz="950">
              <a:solidFill>
                <a:srgbClr val="FFFFFF"/>
              </a:solidFill>
            </a:endParaRPr>
          </a:p>
        </p:txBody>
      </p:sp>
      <p:sp>
        <p:nvSpPr>
          <p:cNvPr id="569" name="Google Shape;569;p48"/>
          <p:cNvSpPr txBox="1"/>
          <p:nvPr/>
        </p:nvSpPr>
        <p:spPr>
          <a:xfrm>
            <a:off x="6464300" y="3771900"/>
            <a:ext cx="231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70">
                <a:solidFill>
                  <a:srgbClr val="121F2E"/>
                </a:solidFill>
              </a:rPr>
              <a:t>补充 app_id、SDK 版本和采集端点；分别监控 WebView/Dalvik；不要由 UA 反推具体 App。</a:t>
            </a:r>
            <a:endParaRPr sz="970">
              <a:solidFill>
                <a:srgbClr val="121F2E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4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75" name="Google Shape;575;p49"/>
          <p:cNvSpPr txBox="1"/>
          <p:nvPr/>
        </p:nvSpPr>
        <p:spPr>
          <a:xfrm>
            <a:off x="330200" y="190500"/>
            <a:ext cx="1333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50">
                <a:solidFill>
                  <a:srgbClr val="6E52C2"/>
                </a:solidFill>
              </a:rPr>
              <a:t>03 可视化与分析</a:t>
            </a:r>
            <a:endParaRPr b="1" sz="850">
              <a:solidFill>
                <a:srgbClr val="6E52C2"/>
              </a:solidFill>
            </a:endParaRPr>
          </a:p>
        </p:txBody>
      </p:sp>
      <p:sp>
        <p:nvSpPr>
          <p:cNvPr id="576" name="Google Shape;576;p49"/>
          <p:cNvSpPr txBox="1"/>
          <p:nvPr/>
        </p:nvSpPr>
        <p:spPr>
          <a:xfrm>
            <a:off x="330200" y="406400"/>
            <a:ext cx="838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121F2E"/>
                </a:solidFill>
              </a:rPr>
              <a:t>3.4 User Agent：品牌集中、型号分散</a:t>
            </a:r>
            <a:endParaRPr b="1" sz="2300">
              <a:solidFill>
                <a:srgbClr val="121F2E"/>
              </a:solidFill>
            </a:endParaRPr>
          </a:p>
        </p:txBody>
      </p:sp>
      <p:sp>
        <p:nvSpPr>
          <p:cNvPr id="577" name="Google Shape;577;p49"/>
          <p:cNvSpPr/>
          <p:nvPr/>
        </p:nvSpPr>
        <p:spPr>
          <a:xfrm>
            <a:off x="330200" y="889000"/>
            <a:ext cx="812700" cy="38100"/>
          </a:xfrm>
          <a:prstGeom prst="rect">
            <a:avLst/>
          </a:prstGeom>
          <a:solidFill>
            <a:srgbClr val="6E52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578" name="Google Shape;578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000" y="992065"/>
            <a:ext cx="6070599" cy="3502269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p49"/>
          <p:cNvSpPr/>
          <p:nvPr/>
        </p:nvSpPr>
        <p:spPr>
          <a:xfrm>
            <a:off x="6324600" y="1003300"/>
            <a:ext cx="2603400" cy="1066800"/>
          </a:xfrm>
          <a:prstGeom prst="roundRect">
            <a:avLst>
              <a:gd fmla="val 16667" name="adj"/>
            </a:avLst>
          </a:prstGeom>
          <a:solidFill>
            <a:srgbClr val="F6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80" name="Google Shape;580;p49"/>
          <p:cNvSpPr/>
          <p:nvPr/>
        </p:nvSpPr>
        <p:spPr>
          <a:xfrm>
            <a:off x="6464300" y="1130300"/>
            <a:ext cx="482700" cy="228600"/>
          </a:xfrm>
          <a:prstGeom prst="roundRect">
            <a:avLst>
              <a:gd fmla="val 16667" name="adj"/>
            </a:avLst>
          </a:prstGeom>
          <a:solidFill>
            <a:srgbClr val="3D7A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81" name="Google Shape;581;p49"/>
          <p:cNvSpPr txBox="1"/>
          <p:nvPr/>
        </p:nvSpPr>
        <p:spPr>
          <a:xfrm>
            <a:off x="6464300" y="1130300"/>
            <a:ext cx="482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rgbClr val="FFFFFF"/>
                </a:solidFill>
              </a:rPr>
              <a:t>分析</a:t>
            </a:r>
            <a:endParaRPr b="1" sz="950">
              <a:solidFill>
                <a:srgbClr val="FFFFFF"/>
              </a:solidFill>
            </a:endParaRPr>
          </a:p>
        </p:txBody>
      </p:sp>
      <p:sp>
        <p:nvSpPr>
          <p:cNvPr id="582" name="Google Shape;582;p49"/>
          <p:cNvSpPr txBox="1"/>
          <p:nvPr/>
        </p:nvSpPr>
        <p:spPr>
          <a:xfrm>
            <a:off x="6464300" y="1435100"/>
            <a:ext cx="231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70">
                <a:solidFill>
                  <a:srgbClr val="121F2E"/>
                </a:solidFill>
              </a:rPr>
              <a:t>Samsung 占 56.38%，Motorola 13.73%，Google 3.97%，Apple 3.68%；头部单一型号均约 2%。</a:t>
            </a:r>
            <a:endParaRPr sz="970">
              <a:solidFill>
                <a:srgbClr val="121F2E"/>
              </a:solidFill>
            </a:endParaRPr>
          </a:p>
        </p:txBody>
      </p:sp>
      <p:sp>
        <p:nvSpPr>
          <p:cNvPr id="583" name="Google Shape;583;p49"/>
          <p:cNvSpPr/>
          <p:nvPr/>
        </p:nvSpPr>
        <p:spPr>
          <a:xfrm>
            <a:off x="6324600" y="2171700"/>
            <a:ext cx="2603400" cy="1066800"/>
          </a:xfrm>
          <a:prstGeom prst="roundRect">
            <a:avLst>
              <a:gd fmla="val 16667" name="adj"/>
            </a:avLst>
          </a:prstGeom>
          <a:solidFill>
            <a:srgbClr val="F6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84" name="Google Shape;584;p49"/>
          <p:cNvSpPr/>
          <p:nvPr/>
        </p:nvSpPr>
        <p:spPr>
          <a:xfrm>
            <a:off x="6464300" y="2298700"/>
            <a:ext cx="482700" cy="228600"/>
          </a:xfrm>
          <a:prstGeom prst="roundRect">
            <a:avLst>
              <a:gd fmla="val 16667" name="adj"/>
            </a:avLst>
          </a:prstGeom>
          <a:solidFill>
            <a:srgbClr val="6E52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85" name="Google Shape;585;p49"/>
          <p:cNvSpPr txBox="1"/>
          <p:nvPr/>
        </p:nvSpPr>
        <p:spPr>
          <a:xfrm>
            <a:off x="6464300" y="2298700"/>
            <a:ext cx="482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rgbClr val="FFFFFF"/>
                </a:solidFill>
              </a:rPr>
              <a:t>结论</a:t>
            </a:r>
            <a:endParaRPr b="1" sz="950">
              <a:solidFill>
                <a:srgbClr val="FFFFFF"/>
              </a:solidFill>
            </a:endParaRPr>
          </a:p>
        </p:txBody>
      </p:sp>
      <p:sp>
        <p:nvSpPr>
          <p:cNvPr id="586" name="Google Shape;586;p49"/>
          <p:cNvSpPr txBox="1"/>
          <p:nvPr/>
        </p:nvSpPr>
        <p:spPr>
          <a:xfrm>
            <a:off x="6464300" y="2603500"/>
            <a:ext cx="231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70">
                <a:solidFill>
                  <a:srgbClr val="121F2E"/>
                </a:solidFill>
              </a:rPr>
              <a:t>品牌层面集中，但型号长尾明显；兼容性和性能测试不能只覆盖少数旗舰机。</a:t>
            </a:r>
            <a:endParaRPr sz="970">
              <a:solidFill>
                <a:srgbClr val="121F2E"/>
              </a:solidFill>
            </a:endParaRPr>
          </a:p>
        </p:txBody>
      </p:sp>
      <p:sp>
        <p:nvSpPr>
          <p:cNvPr id="587" name="Google Shape;587;p49"/>
          <p:cNvSpPr/>
          <p:nvPr/>
        </p:nvSpPr>
        <p:spPr>
          <a:xfrm>
            <a:off x="6324600" y="3340100"/>
            <a:ext cx="2603400" cy="1066800"/>
          </a:xfrm>
          <a:prstGeom prst="roundRect">
            <a:avLst>
              <a:gd fmla="val 16667" name="adj"/>
            </a:avLst>
          </a:prstGeom>
          <a:solidFill>
            <a:srgbClr val="F6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88" name="Google Shape;588;p49"/>
          <p:cNvSpPr/>
          <p:nvPr/>
        </p:nvSpPr>
        <p:spPr>
          <a:xfrm>
            <a:off x="6464300" y="3467100"/>
            <a:ext cx="482700" cy="228600"/>
          </a:xfrm>
          <a:prstGeom prst="roundRect">
            <a:avLst>
              <a:gd fmla="val 16667" name="adj"/>
            </a:avLst>
          </a:prstGeom>
          <a:solidFill>
            <a:srgbClr val="1C85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89" name="Google Shape;589;p49"/>
          <p:cNvSpPr txBox="1"/>
          <p:nvPr/>
        </p:nvSpPr>
        <p:spPr>
          <a:xfrm>
            <a:off x="6464300" y="3467100"/>
            <a:ext cx="482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rgbClr val="FFFFFF"/>
                </a:solidFill>
              </a:rPr>
              <a:t>建议</a:t>
            </a:r>
            <a:endParaRPr b="1" sz="950">
              <a:solidFill>
                <a:srgbClr val="FFFFFF"/>
              </a:solidFill>
            </a:endParaRPr>
          </a:p>
        </p:txBody>
      </p:sp>
      <p:sp>
        <p:nvSpPr>
          <p:cNvPr id="590" name="Google Shape;590;p49"/>
          <p:cNvSpPr txBox="1"/>
          <p:nvPr/>
        </p:nvSpPr>
        <p:spPr>
          <a:xfrm>
            <a:off x="6464300" y="3771900"/>
            <a:ext cx="231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70">
                <a:solidFill>
                  <a:srgbClr val="121F2E"/>
                </a:solidFill>
              </a:rPr>
              <a:t>把型号映射到价格档、发布时间、屏幕和性能层级；按覆盖率选择测试设备组合。</a:t>
            </a:r>
            <a:endParaRPr sz="970">
              <a:solidFill>
                <a:srgbClr val="121F2E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5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96" name="Google Shape;596;p50"/>
          <p:cNvSpPr txBox="1"/>
          <p:nvPr/>
        </p:nvSpPr>
        <p:spPr>
          <a:xfrm>
            <a:off x="330200" y="190500"/>
            <a:ext cx="1333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50">
                <a:solidFill>
                  <a:srgbClr val="6E52C2"/>
                </a:solidFill>
              </a:rPr>
              <a:t>03 可视化与分析</a:t>
            </a:r>
            <a:endParaRPr b="1" sz="850">
              <a:solidFill>
                <a:srgbClr val="6E52C2"/>
              </a:solidFill>
            </a:endParaRPr>
          </a:p>
        </p:txBody>
      </p:sp>
      <p:sp>
        <p:nvSpPr>
          <p:cNvPr id="597" name="Google Shape;597;p50"/>
          <p:cNvSpPr txBox="1"/>
          <p:nvPr/>
        </p:nvSpPr>
        <p:spPr>
          <a:xfrm>
            <a:off x="330200" y="406400"/>
            <a:ext cx="838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121F2E"/>
                </a:solidFill>
              </a:rPr>
              <a:t>3.4 User Agent：</a:t>
            </a:r>
            <a:r>
              <a:rPr b="1" lang="en" sz="2300">
                <a:solidFill>
                  <a:srgbClr val="121F2E"/>
                </a:solidFill>
              </a:rPr>
              <a:t>各主要市场的品牌构成近似</a:t>
            </a:r>
            <a:endParaRPr b="1" sz="2300">
              <a:solidFill>
                <a:srgbClr val="121F2E"/>
              </a:solidFill>
            </a:endParaRPr>
          </a:p>
        </p:txBody>
      </p:sp>
      <p:sp>
        <p:nvSpPr>
          <p:cNvPr id="598" name="Google Shape;598;p50"/>
          <p:cNvSpPr/>
          <p:nvPr/>
        </p:nvSpPr>
        <p:spPr>
          <a:xfrm>
            <a:off x="330200" y="889000"/>
            <a:ext cx="812700" cy="38100"/>
          </a:xfrm>
          <a:prstGeom prst="rect">
            <a:avLst/>
          </a:prstGeom>
          <a:solidFill>
            <a:srgbClr val="6E52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599" name="Google Shape;599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000" y="992065"/>
            <a:ext cx="6070599" cy="3502269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p50"/>
          <p:cNvSpPr/>
          <p:nvPr/>
        </p:nvSpPr>
        <p:spPr>
          <a:xfrm>
            <a:off x="6324600" y="1003300"/>
            <a:ext cx="2603400" cy="1066800"/>
          </a:xfrm>
          <a:prstGeom prst="roundRect">
            <a:avLst>
              <a:gd fmla="val 16667" name="adj"/>
            </a:avLst>
          </a:prstGeom>
          <a:solidFill>
            <a:srgbClr val="F6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01" name="Google Shape;601;p50"/>
          <p:cNvSpPr/>
          <p:nvPr/>
        </p:nvSpPr>
        <p:spPr>
          <a:xfrm>
            <a:off x="6464300" y="1130300"/>
            <a:ext cx="482700" cy="228600"/>
          </a:xfrm>
          <a:prstGeom prst="roundRect">
            <a:avLst>
              <a:gd fmla="val 16667" name="adj"/>
            </a:avLst>
          </a:prstGeom>
          <a:solidFill>
            <a:srgbClr val="3D7A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02" name="Google Shape;602;p50"/>
          <p:cNvSpPr txBox="1"/>
          <p:nvPr/>
        </p:nvSpPr>
        <p:spPr>
          <a:xfrm>
            <a:off x="6464300" y="1130300"/>
            <a:ext cx="482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rgbClr val="FFFFFF"/>
                </a:solidFill>
              </a:rPr>
              <a:t>分析</a:t>
            </a:r>
            <a:endParaRPr b="1" sz="950">
              <a:solidFill>
                <a:srgbClr val="FFFFFF"/>
              </a:solidFill>
            </a:endParaRPr>
          </a:p>
        </p:txBody>
      </p:sp>
      <p:sp>
        <p:nvSpPr>
          <p:cNvPr id="603" name="Google Shape;603;p50"/>
          <p:cNvSpPr txBox="1"/>
          <p:nvPr/>
        </p:nvSpPr>
        <p:spPr>
          <a:xfrm>
            <a:off x="6464300" y="1435100"/>
            <a:ext cx="231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70">
                <a:solidFill>
                  <a:srgbClr val="121F2E"/>
                </a:solidFill>
              </a:rPr>
              <a:t>五个主要市场中 Samsung 均约 56%–57%，Motorola 约 13%–14%，品牌未知约 15%。</a:t>
            </a:r>
            <a:endParaRPr sz="970">
              <a:solidFill>
                <a:srgbClr val="121F2E"/>
              </a:solidFill>
            </a:endParaRPr>
          </a:p>
        </p:txBody>
      </p:sp>
      <p:sp>
        <p:nvSpPr>
          <p:cNvPr id="604" name="Google Shape;604;p50"/>
          <p:cNvSpPr/>
          <p:nvPr/>
        </p:nvSpPr>
        <p:spPr>
          <a:xfrm>
            <a:off x="6324600" y="2171700"/>
            <a:ext cx="2603400" cy="1066800"/>
          </a:xfrm>
          <a:prstGeom prst="roundRect">
            <a:avLst>
              <a:gd fmla="val 16667" name="adj"/>
            </a:avLst>
          </a:prstGeom>
          <a:solidFill>
            <a:srgbClr val="F6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05" name="Google Shape;605;p50"/>
          <p:cNvSpPr/>
          <p:nvPr/>
        </p:nvSpPr>
        <p:spPr>
          <a:xfrm>
            <a:off x="6464300" y="2298700"/>
            <a:ext cx="482700" cy="228600"/>
          </a:xfrm>
          <a:prstGeom prst="roundRect">
            <a:avLst>
              <a:gd fmla="val 16667" name="adj"/>
            </a:avLst>
          </a:prstGeom>
          <a:solidFill>
            <a:srgbClr val="6E52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06" name="Google Shape;606;p50"/>
          <p:cNvSpPr txBox="1"/>
          <p:nvPr/>
        </p:nvSpPr>
        <p:spPr>
          <a:xfrm>
            <a:off x="6464300" y="2298700"/>
            <a:ext cx="482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rgbClr val="FFFFFF"/>
                </a:solidFill>
              </a:rPr>
              <a:t>结论</a:t>
            </a:r>
            <a:endParaRPr b="1" sz="950">
              <a:solidFill>
                <a:srgbClr val="FFFFFF"/>
              </a:solidFill>
            </a:endParaRPr>
          </a:p>
        </p:txBody>
      </p:sp>
      <p:sp>
        <p:nvSpPr>
          <p:cNvPr id="607" name="Google Shape;607;p50"/>
          <p:cNvSpPr txBox="1"/>
          <p:nvPr/>
        </p:nvSpPr>
        <p:spPr>
          <a:xfrm>
            <a:off x="6464300" y="2603500"/>
            <a:ext cx="231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70">
                <a:solidFill>
                  <a:srgbClr val="121F2E"/>
                </a:solidFill>
              </a:rPr>
              <a:t>跨国差异很小，进一步支持样本来自相似渠道或技术栈的判断。</a:t>
            </a:r>
            <a:endParaRPr sz="970">
              <a:solidFill>
                <a:srgbClr val="121F2E"/>
              </a:solidFill>
            </a:endParaRPr>
          </a:p>
        </p:txBody>
      </p:sp>
      <p:sp>
        <p:nvSpPr>
          <p:cNvPr id="608" name="Google Shape;608;p50"/>
          <p:cNvSpPr/>
          <p:nvPr/>
        </p:nvSpPr>
        <p:spPr>
          <a:xfrm>
            <a:off x="6324600" y="3340100"/>
            <a:ext cx="2603400" cy="1066800"/>
          </a:xfrm>
          <a:prstGeom prst="roundRect">
            <a:avLst>
              <a:gd fmla="val 16667" name="adj"/>
            </a:avLst>
          </a:prstGeom>
          <a:solidFill>
            <a:srgbClr val="F6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09" name="Google Shape;609;p50"/>
          <p:cNvSpPr/>
          <p:nvPr/>
        </p:nvSpPr>
        <p:spPr>
          <a:xfrm>
            <a:off x="6464300" y="3467100"/>
            <a:ext cx="482700" cy="228600"/>
          </a:xfrm>
          <a:prstGeom prst="roundRect">
            <a:avLst>
              <a:gd fmla="val 16667" name="adj"/>
            </a:avLst>
          </a:prstGeom>
          <a:solidFill>
            <a:srgbClr val="1C85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10" name="Google Shape;610;p50"/>
          <p:cNvSpPr txBox="1"/>
          <p:nvPr/>
        </p:nvSpPr>
        <p:spPr>
          <a:xfrm>
            <a:off x="6464300" y="3467100"/>
            <a:ext cx="482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rgbClr val="FFFFFF"/>
                </a:solidFill>
              </a:rPr>
              <a:t>建议</a:t>
            </a:r>
            <a:endParaRPr b="1" sz="950">
              <a:solidFill>
                <a:srgbClr val="FFFFFF"/>
              </a:solidFill>
            </a:endParaRPr>
          </a:p>
        </p:txBody>
      </p:sp>
      <p:sp>
        <p:nvSpPr>
          <p:cNvPr id="611" name="Google Shape;611;p50"/>
          <p:cNvSpPr txBox="1"/>
          <p:nvPr/>
        </p:nvSpPr>
        <p:spPr>
          <a:xfrm>
            <a:off x="6464300" y="3771900"/>
            <a:ext cx="231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70">
                <a:solidFill>
                  <a:srgbClr val="121F2E"/>
                </a:solidFill>
              </a:rPr>
              <a:t>按 app/source/partner 分层复核；品牌用于技术适配；市场洞察需与外部设备市场数据校准。</a:t>
            </a:r>
            <a:endParaRPr sz="970">
              <a:solidFill>
                <a:srgbClr val="121F2E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51"/>
          <p:cNvSpPr txBox="1"/>
          <p:nvPr/>
        </p:nvSpPr>
        <p:spPr>
          <a:xfrm>
            <a:off x="660400" y="1168400"/>
            <a:ext cx="1333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200">
                <a:solidFill>
                  <a:srgbClr val="6E52C2"/>
                </a:solidFill>
              </a:rPr>
              <a:t>04</a:t>
            </a:r>
            <a:endParaRPr b="1" sz="4200">
              <a:solidFill>
                <a:srgbClr val="6E52C2"/>
              </a:solidFill>
            </a:endParaRPr>
          </a:p>
        </p:txBody>
      </p:sp>
      <p:sp>
        <p:nvSpPr>
          <p:cNvPr id="617" name="Google Shape;617;p51"/>
          <p:cNvSpPr txBox="1"/>
          <p:nvPr/>
        </p:nvSpPr>
        <p:spPr>
          <a:xfrm>
            <a:off x="660400" y="2006600"/>
            <a:ext cx="77469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rgbClr val="121F2E"/>
                </a:solidFill>
              </a:rPr>
              <a:t>如果有更多数据，还可以做什么</a:t>
            </a:r>
            <a:endParaRPr b="1" sz="3100">
              <a:solidFill>
                <a:srgbClr val="121F2E"/>
              </a:solidFill>
            </a:endParaRPr>
          </a:p>
        </p:txBody>
      </p:sp>
      <p:sp>
        <p:nvSpPr>
          <p:cNvPr id="618" name="Google Shape;618;p51"/>
          <p:cNvSpPr/>
          <p:nvPr/>
        </p:nvSpPr>
        <p:spPr>
          <a:xfrm>
            <a:off x="685800" y="2908300"/>
            <a:ext cx="1143000" cy="50700"/>
          </a:xfrm>
          <a:prstGeom prst="rect">
            <a:avLst/>
          </a:prstGeom>
          <a:solidFill>
            <a:srgbClr val="6E52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52"/>
          <p:cNvSpPr txBox="1"/>
          <p:nvPr/>
        </p:nvSpPr>
        <p:spPr>
          <a:xfrm>
            <a:off x="330200" y="190500"/>
            <a:ext cx="1333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50">
                <a:solidFill>
                  <a:srgbClr val="6E52C2"/>
                </a:solidFill>
              </a:rPr>
              <a:t>04 进一步分析</a:t>
            </a:r>
            <a:endParaRPr b="1" sz="850">
              <a:solidFill>
                <a:srgbClr val="6E52C2"/>
              </a:solidFill>
            </a:endParaRPr>
          </a:p>
        </p:txBody>
      </p:sp>
      <p:sp>
        <p:nvSpPr>
          <p:cNvPr id="624" name="Google Shape;624;p52"/>
          <p:cNvSpPr txBox="1"/>
          <p:nvPr/>
        </p:nvSpPr>
        <p:spPr>
          <a:xfrm>
            <a:off x="330200" y="406400"/>
            <a:ext cx="838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121F2E"/>
                </a:solidFill>
              </a:rPr>
              <a:t>还需要补充哪些数据</a:t>
            </a:r>
            <a:endParaRPr b="1" sz="2300">
              <a:solidFill>
                <a:srgbClr val="121F2E"/>
              </a:solidFill>
            </a:endParaRPr>
          </a:p>
        </p:txBody>
      </p:sp>
      <p:sp>
        <p:nvSpPr>
          <p:cNvPr id="625" name="Google Shape;625;p52"/>
          <p:cNvSpPr/>
          <p:nvPr/>
        </p:nvSpPr>
        <p:spPr>
          <a:xfrm>
            <a:off x="330200" y="889000"/>
            <a:ext cx="812700" cy="38100"/>
          </a:xfrm>
          <a:prstGeom prst="rect">
            <a:avLst/>
          </a:prstGeom>
          <a:solidFill>
            <a:srgbClr val="6E52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26" name="Google Shape;626;p52"/>
          <p:cNvSpPr/>
          <p:nvPr/>
        </p:nvSpPr>
        <p:spPr>
          <a:xfrm>
            <a:off x="330200" y="1168400"/>
            <a:ext cx="2709300" cy="3200400"/>
          </a:xfrm>
          <a:prstGeom prst="roundRect">
            <a:avLst>
              <a:gd fmla="val 16667" name="adj"/>
            </a:avLst>
          </a:prstGeom>
          <a:solidFill>
            <a:srgbClr val="F6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27" name="Google Shape;627;p52"/>
          <p:cNvSpPr txBox="1"/>
          <p:nvPr/>
        </p:nvSpPr>
        <p:spPr>
          <a:xfrm>
            <a:off x="533400" y="1371600"/>
            <a:ext cx="23028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6E52C2"/>
                </a:solidFill>
              </a:rPr>
              <a:t>字段说明和数据来源</a:t>
            </a:r>
            <a:endParaRPr b="1" sz="1500">
              <a:solidFill>
                <a:srgbClr val="6E52C2"/>
              </a:solidFill>
            </a:endParaRPr>
          </a:p>
        </p:txBody>
      </p:sp>
      <p:sp>
        <p:nvSpPr>
          <p:cNvPr id="628" name="Google Shape;628;p52"/>
          <p:cNvSpPr txBox="1"/>
          <p:nvPr/>
        </p:nvSpPr>
        <p:spPr>
          <a:xfrm>
            <a:off x="533400" y="1841500"/>
            <a:ext cx="2302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经纬度坐标采集方式、精度</a:t>
            </a:r>
            <a:endParaRPr sz="1220">
              <a:solidFill>
                <a:srgbClr val="121F2E"/>
              </a:solidFill>
            </a:endParaRPr>
          </a:p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IP 与经纬度坐标是否属于同一次采集事件</a:t>
            </a:r>
            <a:endParaRPr sz="1220">
              <a:solidFill>
                <a:srgbClr val="121F2E"/>
              </a:solidFill>
            </a:endParaRPr>
          </a:p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是否经过模糊化处理</a:t>
            </a:r>
            <a:endParaRPr sz="1220">
              <a:solidFill>
                <a:srgbClr val="121F2E"/>
              </a:solidFill>
            </a:endParaRPr>
          </a:p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用户是否允许定位</a:t>
            </a:r>
            <a:endParaRPr sz="1220">
              <a:solidFill>
                <a:srgbClr val="121F2E"/>
              </a:solidFill>
            </a:endParaRPr>
          </a:p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数据来自哪个 App、网站或合作伙伴 </a:t>
            </a:r>
            <a:endParaRPr sz="1220">
              <a:solidFill>
                <a:srgbClr val="121F2E"/>
              </a:solidFill>
            </a:endParaRPr>
          </a:p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UA详细说明</a:t>
            </a:r>
            <a:endParaRPr sz="1220">
              <a:solidFill>
                <a:srgbClr val="121F2E"/>
              </a:solidFill>
            </a:endParaRPr>
          </a:p>
        </p:txBody>
      </p:sp>
      <p:sp>
        <p:nvSpPr>
          <p:cNvPr id="629" name="Google Shape;629;p52"/>
          <p:cNvSpPr/>
          <p:nvPr/>
        </p:nvSpPr>
        <p:spPr>
          <a:xfrm>
            <a:off x="3217333" y="1168400"/>
            <a:ext cx="2709300" cy="3200400"/>
          </a:xfrm>
          <a:prstGeom prst="roundRect">
            <a:avLst>
              <a:gd fmla="val 16667" name="adj"/>
            </a:avLst>
          </a:prstGeom>
          <a:solidFill>
            <a:srgbClr val="F6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30" name="Google Shape;630;p52"/>
          <p:cNvSpPr txBox="1"/>
          <p:nvPr/>
        </p:nvSpPr>
        <p:spPr>
          <a:xfrm>
            <a:off x="3420533" y="1371600"/>
            <a:ext cx="23028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6E52C2"/>
                </a:solidFill>
              </a:rPr>
              <a:t>更多信息</a:t>
            </a:r>
            <a:endParaRPr b="1" sz="1500">
              <a:solidFill>
                <a:srgbClr val="6E52C2"/>
              </a:solidFill>
            </a:endParaRPr>
          </a:p>
        </p:txBody>
      </p:sp>
      <p:sp>
        <p:nvSpPr>
          <p:cNvPr id="631" name="Google Shape;631;p52"/>
          <p:cNvSpPr txBox="1"/>
          <p:nvPr/>
        </p:nvSpPr>
        <p:spPr>
          <a:xfrm>
            <a:off x="3420533" y="1841500"/>
            <a:ext cx="2302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607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数据生成时间与进入系统的时间</a:t>
            </a:r>
            <a:endParaRPr sz="1220">
              <a:solidFill>
                <a:srgbClr val="121F2E"/>
              </a:solidFill>
            </a:endParaRPr>
          </a:p>
          <a:p>
            <a:pPr indent="-30607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同一user id的重复采集记录</a:t>
            </a:r>
            <a:endParaRPr sz="1220">
              <a:solidFill>
                <a:srgbClr val="121F2E"/>
              </a:solidFill>
            </a:endParaRPr>
          </a:p>
          <a:p>
            <a:pPr indent="-30607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用户所在地区 </a:t>
            </a:r>
            <a:endParaRPr sz="1220">
              <a:solidFill>
                <a:srgbClr val="121F2E"/>
              </a:solidFill>
            </a:endParaRPr>
          </a:p>
          <a:p>
            <a:pPr indent="-30607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多月历史数据 </a:t>
            </a:r>
            <a:endParaRPr sz="1220">
              <a:solidFill>
                <a:srgbClr val="121F2E"/>
              </a:solidFill>
            </a:endParaRPr>
          </a:p>
        </p:txBody>
      </p:sp>
      <p:sp>
        <p:nvSpPr>
          <p:cNvPr id="632" name="Google Shape;632;p52"/>
          <p:cNvSpPr/>
          <p:nvPr/>
        </p:nvSpPr>
        <p:spPr>
          <a:xfrm>
            <a:off x="6104467" y="1168400"/>
            <a:ext cx="2709300" cy="3200400"/>
          </a:xfrm>
          <a:prstGeom prst="roundRect">
            <a:avLst>
              <a:gd fmla="val 16667" name="adj"/>
            </a:avLst>
          </a:prstGeom>
          <a:solidFill>
            <a:srgbClr val="F6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33" name="Google Shape;633;p52"/>
          <p:cNvSpPr txBox="1"/>
          <p:nvPr/>
        </p:nvSpPr>
        <p:spPr>
          <a:xfrm>
            <a:off x="6307667" y="1371600"/>
            <a:ext cx="23028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6E52C2"/>
                </a:solidFill>
              </a:rPr>
              <a:t>广告投放结果</a:t>
            </a:r>
            <a:endParaRPr b="1" sz="1500">
              <a:solidFill>
                <a:srgbClr val="6E52C2"/>
              </a:solidFill>
            </a:endParaRPr>
          </a:p>
        </p:txBody>
      </p:sp>
      <p:sp>
        <p:nvSpPr>
          <p:cNvPr id="634" name="Google Shape;634;p52"/>
          <p:cNvSpPr txBox="1"/>
          <p:nvPr/>
        </p:nvSpPr>
        <p:spPr>
          <a:xfrm>
            <a:off x="6307667" y="1841500"/>
            <a:ext cx="2302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Campaign、Ad、Creative ID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广告曝光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点击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转化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购买金额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CRM 或会员标签</a:t>
            </a:r>
            <a:endParaRPr sz="1320">
              <a:solidFill>
                <a:srgbClr val="121F2E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53"/>
          <p:cNvSpPr txBox="1"/>
          <p:nvPr/>
        </p:nvSpPr>
        <p:spPr>
          <a:xfrm>
            <a:off x="330200" y="190500"/>
            <a:ext cx="1333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50">
                <a:solidFill>
                  <a:srgbClr val="6E52C2"/>
                </a:solidFill>
              </a:rPr>
              <a:t>04 进一步分析</a:t>
            </a:r>
            <a:endParaRPr b="1" sz="850">
              <a:solidFill>
                <a:srgbClr val="6E52C2"/>
              </a:solidFill>
            </a:endParaRPr>
          </a:p>
        </p:txBody>
      </p:sp>
      <p:sp>
        <p:nvSpPr>
          <p:cNvPr id="640" name="Google Shape;640;p53"/>
          <p:cNvSpPr txBox="1"/>
          <p:nvPr/>
        </p:nvSpPr>
        <p:spPr>
          <a:xfrm>
            <a:off x="330200" y="406400"/>
            <a:ext cx="838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121F2E"/>
                </a:solidFill>
              </a:rPr>
              <a:t>有更多数据后，可以做哪些分析</a:t>
            </a:r>
            <a:endParaRPr b="1" sz="2300">
              <a:solidFill>
                <a:srgbClr val="121F2E"/>
              </a:solidFill>
            </a:endParaRPr>
          </a:p>
        </p:txBody>
      </p:sp>
      <p:sp>
        <p:nvSpPr>
          <p:cNvPr id="641" name="Google Shape;641;p53"/>
          <p:cNvSpPr/>
          <p:nvPr/>
        </p:nvSpPr>
        <p:spPr>
          <a:xfrm>
            <a:off x="330200" y="889000"/>
            <a:ext cx="812700" cy="38100"/>
          </a:xfrm>
          <a:prstGeom prst="rect">
            <a:avLst/>
          </a:prstGeom>
          <a:solidFill>
            <a:srgbClr val="6E52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42" name="Google Shape;642;p53"/>
          <p:cNvSpPr/>
          <p:nvPr/>
        </p:nvSpPr>
        <p:spPr>
          <a:xfrm>
            <a:off x="330200" y="1168400"/>
            <a:ext cx="2709300" cy="3200400"/>
          </a:xfrm>
          <a:prstGeom prst="roundRect">
            <a:avLst>
              <a:gd fmla="val 16667" name="adj"/>
            </a:avLst>
          </a:prstGeom>
          <a:solidFill>
            <a:srgbClr val="F6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43" name="Google Shape;643;p53"/>
          <p:cNvSpPr txBox="1"/>
          <p:nvPr/>
        </p:nvSpPr>
        <p:spPr>
          <a:xfrm>
            <a:off x="533400" y="1371600"/>
            <a:ext cx="23028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6E52C2"/>
                </a:solidFill>
              </a:rPr>
              <a:t>了解用户行为</a:t>
            </a:r>
            <a:endParaRPr b="1" sz="1500">
              <a:solidFill>
                <a:srgbClr val="6E52C2"/>
              </a:solidFill>
            </a:endParaRPr>
          </a:p>
        </p:txBody>
      </p:sp>
      <p:sp>
        <p:nvSpPr>
          <p:cNvPr id="644" name="Google Shape;644;p53"/>
          <p:cNvSpPr txBox="1"/>
          <p:nvPr/>
        </p:nvSpPr>
        <p:spPr>
          <a:xfrm>
            <a:off x="330200" y="1841500"/>
            <a:ext cx="27093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把同一用户的多次记录连起来</a:t>
            </a:r>
            <a:endParaRPr sz="1220">
              <a:solidFill>
                <a:srgbClr val="121F2E"/>
              </a:solidFill>
            </a:endParaRPr>
          </a:p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分析重复访问、常用地点和活跃时间</a:t>
            </a:r>
            <a:endParaRPr sz="1220">
              <a:solidFill>
                <a:srgbClr val="121F2E"/>
              </a:solidFill>
            </a:endParaRPr>
          </a:p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按国家、设备和使用习惯分组</a:t>
            </a:r>
            <a:endParaRPr sz="1220">
              <a:solidFill>
                <a:srgbClr val="121F2E"/>
              </a:solidFill>
            </a:endParaRPr>
          </a:p>
        </p:txBody>
      </p:sp>
      <p:sp>
        <p:nvSpPr>
          <p:cNvPr id="645" name="Google Shape;645;p53"/>
          <p:cNvSpPr/>
          <p:nvPr/>
        </p:nvSpPr>
        <p:spPr>
          <a:xfrm>
            <a:off x="3217333" y="1168400"/>
            <a:ext cx="2709300" cy="3200400"/>
          </a:xfrm>
          <a:prstGeom prst="roundRect">
            <a:avLst>
              <a:gd fmla="val 16667" name="adj"/>
            </a:avLst>
          </a:prstGeom>
          <a:solidFill>
            <a:srgbClr val="F6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46" name="Google Shape;646;p53"/>
          <p:cNvSpPr txBox="1"/>
          <p:nvPr/>
        </p:nvSpPr>
        <p:spPr>
          <a:xfrm>
            <a:off x="3420533" y="1371600"/>
            <a:ext cx="23028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6E52C2"/>
                </a:solidFill>
              </a:rPr>
              <a:t>支持广告投放</a:t>
            </a:r>
            <a:endParaRPr b="1" sz="1500">
              <a:solidFill>
                <a:srgbClr val="6E52C2"/>
              </a:solidFill>
            </a:endParaRPr>
          </a:p>
        </p:txBody>
      </p:sp>
      <p:sp>
        <p:nvSpPr>
          <p:cNvPr id="647" name="Google Shape;647;p53"/>
          <p:cNvSpPr txBox="1"/>
          <p:nvPr/>
        </p:nvSpPr>
        <p:spPr>
          <a:xfrm>
            <a:off x="3217325" y="1841500"/>
            <a:ext cx="26787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按市场选择合适的投放时间</a:t>
            </a:r>
            <a:endParaRPr sz="1220">
              <a:solidFill>
                <a:srgbClr val="121F2E"/>
              </a:solidFill>
            </a:endParaRPr>
          </a:p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根据设备和系统调整素材</a:t>
            </a:r>
            <a:endParaRPr sz="1220">
              <a:solidFill>
                <a:srgbClr val="121F2E"/>
              </a:solidFill>
            </a:endParaRPr>
          </a:p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建立自定义受众和相似受众</a:t>
            </a:r>
            <a:endParaRPr sz="1220">
              <a:solidFill>
                <a:srgbClr val="121F2E"/>
              </a:solidFill>
            </a:endParaRPr>
          </a:p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比较不同人群的点击和转化</a:t>
            </a:r>
            <a:endParaRPr sz="1220">
              <a:solidFill>
                <a:srgbClr val="121F2E"/>
              </a:solidFill>
            </a:endParaRPr>
          </a:p>
        </p:txBody>
      </p:sp>
      <p:sp>
        <p:nvSpPr>
          <p:cNvPr id="648" name="Google Shape;648;p53"/>
          <p:cNvSpPr/>
          <p:nvPr/>
        </p:nvSpPr>
        <p:spPr>
          <a:xfrm>
            <a:off x="6104467" y="1168400"/>
            <a:ext cx="2709300" cy="3200400"/>
          </a:xfrm>
          <a:prstGeom prst="roundRect">
            <a:avLst>
              <a:gd fmla="val 16667" name="adj"/>
            </a:avLst>
          </a:prstGeom>
          <a:solidFill>
            <a:srgbClr val="F6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49" name="Google Shape;649;p53"/>
          <p:cNvSpPr txBox="1"/>
          <p:nvPr/>
        </p:nvSpPr>
        <p:spPr>
          <a:xfrm>
            <a:off x="6307667" y="1371600"/>
            <a:ext cx="23028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6E52C2"/>
                </a:solidFill>
              </a:rPr>
              <a:t>检查数据质量</a:t>
            </a:r>
            <a:endParaRPr b="1" sz="1500">
              <a:solidFill>
                <a:srgbClr val="6E52C2"/>
              </a:solidFill>
            </a:endParaRPr>
          </a:p>
        </p:txBody>
      </p:sp>
      <p:sp>
        <p:nvSpPr>
          <p:cNvPr id="650" name="Google Shape;650;p53"/>
          <p:cNvSpPr txBox="1"/>
          <p:nvPr/>
        </p:nvSpPr>
        <p:spPr>
          <a:xfrm>
            <a:off x="6104475" y="1841500"/>
            <a:ext cx="26787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发现异常 IP、位置和缺失字段</a:t>
            </a:r>
            <a:endParaRPr sz="1220">
              <a:solidFill>
                <a:srgbClr val="121F2E"/>
              </a:solidFill>
            </a:endParaRPr>
          </a:p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监控每天的数据量和设备变化</a:t>
            </a:r>
            <a:endParaRPr sz="1220">
              <a:solidFill>
                <a:srgbClr val="121F2E"/>
              </a:solidFill>
            </a:endParaRPr>
          </a:p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记录字段来源、更新时间和可靠程度</a:t>
            </a:r>
            <a:endParaRPr sz="1220">
              <a:solidFill>
                <a:srgbClr val="121F2E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54"/>
          <p:cNvSpPr txBox="1"/>
          <p:nvPr/>
        </p:nvSpPr>
        <p:spPr>
          <a:xfrm>
            <a:off x="330200" y="190500"/>
            <a:ext cx="1333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50">
                <a:solidFill>
                  <a:srgbClr val="6E52C2"/>
                </a:solidFill>
              </a:rPr>
              <a:t>04 进一步分析</a:t>
            </a:r>
            <a:endParaRPr b="1" sz="850">
              <a:solidFill>
                <a:srgbClr val="6E52C2"/>
              </a:solidFill>
            </a:endParaRPr>
          </a:p>
        </p:txBody>
      </p:sp>
      <p:sp>
        <p:nvSpPr>
          <p:cNvPr id="656" name="Google Shape;656;p54"/>
          <p:cNvSpPr txBox="1"/>
          <p:nvPr/>
        </p:nvSpPr>
        <p:spPr>
          <a:xfrm>
            <a:off x="330200" y="406400"/>
            <a:ext cx="838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121F2E"/>
                </a:solidFill>
              </a:rPr>
              <a:t>如果项目进入生产环境</a:t>
            </a:r>
            <a:endParaRPr b="1" sz="2300">
              <a:solidFill>
                <a:srgbClr val="121F2E"/>
              </a:solidFill>
            </a:endParaRPr>
          </a:p>
        </p:txBody>
      </p:sp>
      <p:sp>
        <p:nvSpPr>
          <p:cNvPr id="657" name="Google Shape;657;p54"/>
          <p:cNvSpPr/>
          <p:nvPr/>
        </p:nvSpPr>
        <p:spPr>
          <a:xfrm>
            <a:off x="330200" y="889000"/>
            <a:ext cx="812700" cy="38100"/>
          </a:xfrm>
          <a:prstGeom prst="rect">
            <a:avLst/>
          </a:prstGeom>
          <a:solidFill>
            <a:srgbClr val="6E52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58" name="Google Shape;658;p54"/>
          <p:cNvSpPr/>
          <p:nvPr/>
        </p:nvSpPr>
        <p:spPr>
          <a:xfrm>
            <a:off x="330200" y="1168400"/>
            <a:ext cx="2709300" cy="3200400"/>
          </a:xfrm>
          <a:prstGeom prst="roundRect">
            <a:avLst>
              <a:gd fmla="val 16667" name="adj"/>
            </a:avLst>
          </a:prstGeom>
          <a:solidFill>
            <a:srgbClr val="F6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59" name="Google Shape;659;p54"/>
          <p:cNvSpPr txBox="1"/>
          <p:nvPr/>
        </p:nvSpPr>
        <p:spPr>
          <a:xfrm>
            <a:off x="533400" y="1371600"/>
            <a:ext cx="23028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6E52C2"/>
                </a:solidFill>
              </a:rPr>
              <a:t>数据存储和处理</a:t>
            </a:r>
            <a:endParaRPr b="1" sz="1500">
              <a:solidFill>
                <a:srgbClr val="6E52C2"/>
              </a:solidFill>
            </a:endParaRPr>
          </a:p>
        </p:txBody>
      </p:sp>
      <p:sp>
        <p:nvSpPr>
          <p:cNvPr id="660" name="Google Shape;660;p54"/>
          <p:cNvSpPr txBox="1"/>
          <p:nvPr/>
        </p:nvSpPr>
        <p:spPr>
          <a:xfrm>
            <a:off x="533400" y="1841500"/>
            <a:ext cx="2302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保留原始数据，方便追溯</a:t>
            </a:r>
            <a:endParaRPr sz="1220">
              <a:solidFill>
                <a:srgbClr val="121F2E"/>
              </a:solidFill>
            </a:endParaRPr>
          </a:p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每天只处理新增记录</a:t>
            </a:r>
            <a:endParaRPr sz="1220">
              <a:solidFill>
                <a:srgbClr val="121F2E"/>
              </a:solidFill>
            </a:endParaRPr>
          </a:p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数据增长后按日期和国家分区</a:t>
            </a:r>
            <a:endParaRPr sz="1220">
              <a:solidFill>
                <a:srgbClr val="121F2E"/>
              </a:solidFill>
            </a:endParaRPr>
          </a:p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需要共享查询时接入数据库或数据仓库</a:t>
            </a:r>
            <a:endParaRPr sz="1220">
              <a:solidFill>
                <a:srgbClr val="121F2E"/>
              </a:solidFill>
            </a:endParaRPr>
          </a:p>
        </p:txBody>
      </p:sp>
      <p:sp>
        <p:nvSpPr>
          <p:cNvPr id="661" name="Google Shape;661;p54"/>
          <p:cNvSpPr/>
          <p:nvPr/>
        </p:nvSpPr>
        <p:spPr>
          <a:xfrm>
            <a:off x="3217333" y="1168400"/>
            <a:ext cx="2709300" cy="3200400"/>
          </a:xfrm>
          <a:prstGeom prst="roundRect">
            <a:avLst>
              <a:gd fmla="val 16667" name="adj"/>
            </a:avLst>
          </a:prstGeom>
          <a:solidFill>
            <a:srgbClr val="F6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62" name="Google Shape;662;p54"/>
          <p:cNvSpPr txBox="1"/>
          <p:nvPr/>
        </p:nvSpPr>
        <p:spPr>
          <a:xfrm>
            <a:off x="3420533" y="1371600"/>
            <a:ext cx="23028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6E52C2"/>
                </a:solidFill>
              </a:rPr>
              <a:t>数据质量和隐私</a:t>
            </a:r>
            <a:endParaRPr b="1" sz="1500">
              <a:solidFill>
                <a:srgbClr val="6E52C2"/>
              </a:solidFill>
            </a:endParaRPr>
          </a:p>
        </p:txBody>
      </p:sp>
      <p:sp>
        <p:nvSpPr>
          <p:cNvPr id="663" name="Google Shape;663;p54"/>
          <p:cNvSpPr txBox="1"/>
          <p:nvPr/>
        </p:nvSpPr>
        <p:spPr>
          <a:xfrm>
            <a:off x="3420533" y="1841500"/>
            <a:ext cx="2302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监控数据量、空值率和匹配率</a:t>
            </a:r>
            <a:endParaRPr sz="1220">
              <a:solidFill>
                <a:srgbClr val="121F2E"/>
              </a:solidFill>
            </a:endParaRPr>
          </a:p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记录每个字段的来源和版本</a:t>
            </a:r>
            <a:endParaRPr sz="1220">
              <a:solidFill>
                <a:srgbClr val="121F2E"/>
              </a:solidFill>
            </a:endParaRPr>
          </a:p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只保留分析需要的数据</a:t>
            </a:r>
            <a:endParaRPr sz="1220">
              <a:solidFill>
                <a:srgbClr val="121F2E"/>
              </a:solidFill>
            </a:endParaRPr>
          </a:p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控制访问权限和保存时间</a:t>
            </a:r>
            <a:endParaRPr sz="1220">
              <a:solidFill>
                <a:srgbClr val="121F2E"/>
              </a:solidFill>
            </a:endParaRPr>
          </a:p>
        </p:txBody>
      </p:sp>
      <p:sp>
        <p:nvSpPr>
          <p:cNvPr id="664" name="Google Shape;664;p54"/>
          <p:cNvSpPr/>
          <p:nvPr/>
        </p:nvSpPr>
        <p:spPr>
          <a:xfrm>
            <a:off x="6104467" y="1168400"/>
            <a:ext cx="2709300" cy="3200400"/>
          </a:xfrm>
          <a:prstGeom prst="roundRect">
            <a:avLst>
              <a:gd fmla="val 16667" name="adj"/>
            </a:avLst>
          </a:prstGeom>
          <a:solidFill>
            <a:srgbClr val="F6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65" name="Google Shape;665;p54"/>
          <p:cNvSpPr txBox="1"/>
          <p:nvPr/>
        </p:nvSpPr>
        <p:spPr>
          <a:xfrm>
            <a:off x="6307667" y="1371600"/>
            <a:ext cx="23028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6E52C2"/>
                </a:solidFill>
              </a:rPr>
              <a:t>检查实际效果</a:t>
            </a:r>
            <a:endParaRPr b="1" sz="1500">
              <a:solidFill>
                <a:srgbClr val="6E52C2"/>
              </a:solidFill>
            </a:endParaRPr>
          </a:p>
        </p:txBody>
      </p:sp>
      <p:sp>
        <p:nvSpPr>
          <p:cNvPr id="666" name="Google Shape;666;p54"/>
          <p:cNvSpPr txBox="1"/>
          <p:nvPr/>
        </p:nvSpPr>
        <p:spPr>
          <a:xfrm>
            <a:off x="6307667" y="1841500"/>
            <a:ext cx="2302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查看受众覆盖率和匹配率</a:t>
            </a:r>
            <a:endParaRPr sz="1220">
              <a:solidFill>
                <a:srgbClr val="121F2E"/>
              </a:solidFill>
            </a:endParaRPr>
          </a:p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比较点击率和转化率</a:t>
            </a:r>
            <a:endParaRPr sz="1220">
              <a:solidFill>
                <a:srgbClr val="121F2E"/>
              </a:solidFill>
            </a:endParaRPr>
          </a:p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使用 A/B 测试或对照组</a:t>
            </a:r>
            <a:endParaRPr sz="1220">
              <a:solidFill>
                <a:srgbClr val="121F2E"/>
              </a:solidFill>
            </a:endParaRPr>
          </a:p>
          <a:p>
            <a:pPr indent="-30607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F2E"/>
              </a:buClr>
              <a:buSzPts val="1220"/>
              <a:buChar char="●"/>
            </a:pPr>
            <a:r>
              <a:rPr lang="en" sz="1220">
                <a:solidFill>
                  <a:srgbClr val="121F2E"/>
                </a:solidFill>
              </a:rPr>
              <a:t>根据结果调整特征和受众规则</a:t>
            </a:r>
            <a:endParaRPr sz="1220">
              <a:solidFill>
                <a:srgbClr val="121F2E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55"/>
          <p:cNvSpPr txBox="1"/>
          <p:nvPr/>
        </p:nvSpPr>
        <p:spPr>
          <a:xfrm>
            <a:off x="812800" y="1689100"/>
            <a:ext cx="74295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300">
                <a:solidFill>
                  <a:srgbClr val="121F2E"/>
                </a:solidFill>
              </a:rPr>
              <a:t>感谢观看</a:t>
            </a:r>
            <a:endParaRPr b="1" sz="4300">
              <a:solidFill>
                <a:srgbClr val="121F2E"/>
              </a:solidFill>
            </a:endParaRPr>
          </a:p>
        </p:txBody>
      </p:sp>
      <p:sp>
        <p:nvSpPr>
          <p:cNvPr id="672" name="Google Shape;672;p55"/>
          <p:cNvSpPr txBox="1"/>
          <p:nvPr/>
        </p:nvSpPr>
        <p:spPr>
          <a:xfrm>
            <a:off x="850900" y="3810000"/>
            <a:ext cx="6603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6E52C2"/>
                </a:solidFill>
              </a:rPr>
              <a:t>Cassie  ·  For AlikeAudience Skill Test</a:t>
            </a:r>
            <a:endParaRPr b="1" sz="1200">
              <a:solidFill>
                <a:srgbClr val="6E52C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ch Trends 2026 by Slidesgo">
  <a:themeElements>
    <a:clrScheme name="Simple Light">
      <a:dk1>
        <a:srgbClr val="222222"/>
      </a:dk1>
      <a:lt1>
        <a:srgbClr val="F8F8F8"/>
      </a:lt1>
      <a:dk2>
        <a:srgbClr val="222222"/>
      </a:dk2>
      <a:lt2>
        <a:srgbClr val="222222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2222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